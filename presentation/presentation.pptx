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188720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94A3B8"/>
                </a:solidFill>
                <a:latin typeface="Calibri"/>
              </a:rPr>
              <a:t>Université Euromed de Fès  ·  EIDIA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400" b="1" i="0">
                <a:solidFill>
                  <a:srgbClr val="0F172A"/>
                </a:solidFill>
                <a:latin typeface="Calibri"/>
              </a:rPr>
              <a:t>Compréhension </a:t>
            </a:r>
            <a:r>
              <a:rPr sz="4400" b="1" i="0">
                <a:solidFill>
                  <a:srgbClr val="4F46E5"/>
                </a:solidFill>
                <a:latin typeface="Calibri"/>
              </a:rPr>
              <a:t>Audio</a:t>
            </a:r>
          </a:p>
          <a:p>
            <a:pPr>
              <a:spcBef>
                <a:spcPts val="600"/>
              </a:spcBef>
            </a:pPr>
            <a:r>
              <a:rPr sz="1700" b="0" i="0">
                <a:solidFill>
                  <a:srgbClr val="334155"/>
                </a:solidFill>
                <a:latin typeface="Calibri"/>
              </a:rPr>
              <a:t>Audio Understanding par Intelligence Artificielle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3566160"/>
            <a:ext cx="3931920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0" bIns="0"/>
          <a:lstStyle/>
          <a:p>
            <a:pPr algn="ctr"/>
            <a:r>
              <a:rPr sz="1400" b="1" i="0">
                <a:solidFill>
                  <a:srgbClr val="4338CA"/>
                </a:solidFill>
                <a:latin typeface="Consolas"/>
              </a:rPr>
              <a:t>Qwen2-Audio-7B-Instruct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663440"/>
            <a:ext cx="10058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94A3B8"/>
                </a:solidFill>
                <a:latin typeface="Calibri"/>
              </a:rPr>
              <a:t>Projet de Fin du Module — Architectures Modernes de Réseaux de Neurones</a:t>
            </a:r>
          </a:p>
          <a:p>
            <a:pPr>
              <a:spcBef>
                <a:spcPts val="1600"/>
              </a:spcBef>
            </a:pPr>
            <a:r>
              <a:rPr sz="1500" b="1" i="0">
                <a:solidFill>
                  <a:srgbClr val="0F172A"/>
                </a:solidFill>
                <a:latin typeface="Calibri"/>
              </a:rPr>
              <a:t>Tassnim &amp; Zineb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334155"/>
                </a:solidFill>
                <a:latin typeface="Calibri"/>
              </a:rPr>
              <a:t>Encadrant : Pr. Smail Tigani   ·   Année 2025 /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972281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4338CA"/>
                </a:solidFill>
                <a:latin typeface="Calibri"/>
              </a:rPr>
              <a:t>Plan de la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08615" y="329184"/>
            <a:ext cx="12801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onsolas"/>
              </a:rPr>
              <a:t>2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85855" cy="317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08176"/>
            <a:ext cx="5528919" cy="98755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44752"/>
            <a:ext cx="64008" cy="9144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408176"/>
            <a:ext cx="5263743" cy="987552"/>
          </a:xfrm>
          <a:prstGeom prst="rect">
            <a:avLst/>
          </a:prstGeom>
          <a:noFill/>
        </p:spPr>
        <p:txBody>
          <a:bodyPr wrap="square" anchor="ctr" lIns="76200" rIns="76200" tIns="50800" bIns="50800">
            <a:spAutoFit/>
          </a:bodyPr>
          <a:lstStyle/>
          <a:p>
            <a:r>
              <a:rPr sz="1500" b="1" i="0">
                <a:solidFill>
                  <a:srgbClr val="4F46E5"/>
                </a:solidFill>
                <a:latin typeface="Calibri"/>
              </a:rPr>
              <a:t>1.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Contexte &amp; objectifs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9855" y="1408176"/>
            <a:ext cx="5528919" cy="98755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59855" y="1444752"/>
            <a:ext cx="64008" cy="9144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1879" y="1408176"/>
            <a:ext cx="5263743" cy="987552"/>
          </a:xfrm>
          <a:prstGeom prst="rect">
            <a:avLst/>
          </a:prstGeom>
          <a:noFill/>
        </p:spPr>
        <p:txBody>
          <a:bodyPr wrap="square" anchor="ctr" lIns="76200" rIns="76200" tIns="50800" bIns="50800">
            <a:spAutoFit/>
          </a:bodyPr>
          <a:lstStyle/>
          <a:p>
            <a:r>
              <a:rPr sz="1500" b="1" i="0">
                <a:solidFill>
                  <a:srgbClr val="4F46E5"/>
                </a:solidFill>
                <a:latin typeface="Calibri"/>
              </a:rPr>
              <a:t>2.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Le modèle Qwen2-Audio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551176"/>
            <a:ext cx="5528919" cy="98755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587752"/>
            <a:ext cx="64008" cy="9144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2551176"/>
            <a:ext cx="5263743" cy="987552"/>
          </a:xfrm>
          <a:prstGeom prst="rect">
            <a:avLst/>
          </a:prstGeom>
          <a:noFill/>
        </p:spPr>
        <p:txBody>
          <a:bodyPr wrap="square" anchor="ctr" lIns="76200" rIns="76200" tIns="50800" bIns="50800">
            <a:spAutoFit/>
          </a:bodyPr>
          <a:lstStyle/>
          <a:p>
            <a:r>
              <a:rPr sz="1500" b="1" i="0">
                <a:solidFill>
                  <a:srgbClr val="4F46E5"/>
                </a:solidFill>
                <a:latin typeface="Calibri"/>
              </a:rPr>
              <a:t>3.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API opérationnelle (FastAPI)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9855" y="2551176"/>
            <a:ext cx="5528919" cy="98755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59855" y="2587752"/>
            <a:ext cx="64008" cy="9144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1879" y="2551176"/>
            <a:ext cx="5263743" cy="987552"/>
          </a:xfrm>
          <a:prstGeom prst="rect">
            <a:avLst/>
          </a:prstGeom>
          <a:noFill/>
        </p:spPr>
        <p:txBody>
          <a:bodyPr wrap="square" anchor="ctr" lIns="76200" rIns="76200" tIns="50800" bIns="50800">
            <a:spAutoFit/>
          </a:bodyPr>
          <a:lstStyle/>
          <a:p>
            <a:r>
              <a:rPr sz="1500" b="1" i="0">
                <a:solidFill>
                  <a:srgbClr val="4F46E5"/>
                </a:solidFill>
                <a:latin typeface="Calibri"/>
              </a:rPr>
              <a:t>4.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Interface web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694176"/>
            <a:ext cx="5528919" cy="98755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730752"/>
            <a:ext cx="64008" cy="9144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694176"/>
            <a:ext cx="5263743" cy="987552"/>
          </a:xfrm>
          <a:prstGeom prst="rect">
            <a:avLst/>
          </a:prstGeom>
          <a:noFill/>
        </p:spPr>
        <p:txBody>
          <a:bodyPr wrap="square" anchor="ctr" lIns="76200" rIns="76200" tIns="50800" bIns="50800">
            <a:spAutoFit/>
          </a:bodyPr>
          <a:lstStyle/>
          <a:p>
            <a:r>
              <a:rPr sz="1500" b="1" i="0">
                <a:solidFill>
                  <a:srgbClr val="4F46E5"/>
                </a:solidFill>
                <a:latin typeface="Calibri"/>
              </a:rPr>
              <a:t>5.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Pipeline technique d'inférence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59855" y="3694176"/>
            <a:ext cx="5528919" cy="98755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59855" y="3730752"/>
            <a:ext cx="64008" cy="9144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3694176"/>
            <a:ext cx="5263743" cy="987552"/>
          </a:xfrm>
          <a:prstGeom prst="rect">
            <a:avLst/>
          </a:prstGeom>
          <a:noFill/>
        </p:spPr>
        <p:txBody>
          <a:bodyPr wrap="square" anchor="ctr" lIns="76200" rIns="76200" tIns="50800" bIns="50800">
            <a:spAutoFit/>
          </a:bodyPr>
          <a:lstStyle/>
          <a:p>
            <a:r>
              <a:rPr sz="1500" b="1" i="0">
                <a:solidFill>
                  <a:srgbClr val="4F46E5"/>
                </a:solidFill>
                <a:latin typeface="Calibri"/>
              </a:rPr>
              <a:t>6.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Déploiement sur Google Colab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837176"/>
            <a:ext cx="5528919" cy="98755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873752"/>
            <a:ext cx="64008" cy="9144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4837176"/>
            <a:ext cx="5263743" cy="987552"/>
          </a:xfrm>
          <a:prstGeom prst="rect">
            <a:avLst/>
          </a:prstGeom>
          <a:noFill/>
        </p:spPr>
        <p:txBody>
          <a:bodyPr wrap="square" anchor="ctr" lIns="76200" rIns="76200" tIns="50800" bIns="50800">
            <a:spAutoFit/>
          </a:bodyPr>
          <a:lstStyle/>
          <a:p>
            <a:r>
              <a:rPr sz="1500" b="1" i="0">
                <a:solidFill>
                  <a:srgbClr val="4F46E5"/>
                </a:solidFill>
                <a:latin typeface="Calibri"/>
              </a:rPr>
              <a:t>7.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Difficultés &amp; solutions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59855" y="4837176"/>
            <a:ext cx="5528919" cy="98755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59855" y="4873752"/>
            <a:ext cx="64008" cy="9144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1879" y="4837176"/>
            <a:ext cx="5263743" cy="987552"/>
          </a:xfrm>
          <a:prstGeom prst="rect">
            <a:avLst/>
          </a:prstGeom>
          <a:noFill/>
        </p:spPr>
        <p:txBody>
          <a:bodyPr wrap="square" anchor="ctr" lIns="76200" rIns="76200" tIns="50800" bIns="50800">
            <a:spAutoFit/>
          </a:bodyPr>
          <a:lstStyle/>
          <a:p>
            <a:r>
              <a:rPr sz="1500" b="1" i="0">
                <a:solidFill>
                  <a:srgbClr val="4F46E5"/>
                </a:solidFill>
                <a:latin typeface="Calibri"/>
              </a:rPr>
              <a:t>8.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Pistes d'amélioration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972281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4338CA"/>
                </a:solidFill>
                <a:latin typeface="Calibri"/>
              </a:rPr>
              <a:t>Contexte &amp; objectifs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08615" y="329184"/>
            <a:ext cx="12801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onsolas"/>
              </a:rPr>
              <a:t>3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85855" cy="317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53312"/>
            <a:ext cx="5369210" cy="53400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4338CA"/>
                </a:solidFill>
                <a:latin typeface="Calibri"/>
              </a:rPr>
              <a:t>Pourquoi la compréhension audio ?</a:t>
            </a: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4F46E5"/>
                </a:solidFill>
                <a:latin typeface="Calibri"/>
              </a:rPr>
              <a:t>·  </a:t>
            </a:r>
            <a:r>
              <a:rPr sz="1300" b="0" i="0">
                <a:solidFill>
                  <a:srgbClr val="334155"/>
                </a:solidFill>
                <a:latin typeface="Calibri"/>
              </a:rPr>
              <a:t>Les interfaces vocales sont omniprésentes</a:t>
            </a: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4F46E5"/>
                </a:solidFill>
                <a:latin typeface="Calibri"/>
              </a:rPr>
              <a:t>·  </a:t>
            </a:r>
            <a:r>
              <a:rPr sz="1300" b="0" i="0">
                <a:solidFill>
                  <a:srgbClr val="334155"/>
                </a:solidFill>
                <a:latin typeface="Calibri"/>
              </a:rPr>
              <a:t>Au-delà de la transcription : comprendre le sens</a:t>
            </a: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4F46E5"/>
                </a:solidFill>
                <a:latin typeface="Calibri"/>
              </a:rPr>
              <a:t>·  </a:t>
            </a:r>
            <a:r>
              <a:rPr sz="1300" b="0" i="0">
                <a:solidFill>
                  <a:srgbClr val="334155"/>
                </a:solidFill>
                <a:latin typeface="Calibri"/>
              </a:rPr>
              <a:t>Analyse de réunions, podcasts, cours enregistrés</a:t>
            </a: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4F46E5"/>
                </a:solidFill>
                <a:latin typeface="Calibri"/>
              </a:rPr>
              <a:t>·  </a:t>
            </a:r>
            <a:r>
              <a:rPr sz="1300" b="0" i="0">
                <a:solidFill>
                  <a:srgbClr val="334155"/>
                </a:solidFill>
                <a:latin typeface="Calibri"/>
              </a:rPr>
              <a:t>Accessibilité pour les personnes malentendantes</a:t>
            </a: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4F46E5"/>
                </a:solidFill>
                <a:latin typeface="Calibri"/>
              </a:rPr>
              <a:t>·  </a:t>
            </a:r>
            <a:r>
              <a:rPr sz="1300" b="0" i="0">
                <a:solidFill>
                  <a:srgbClr val="334155"/>
                </a:solidFill>
                <a:latin typeface="Calibri"/>
              </a:rPr>
              <a:t>Marchés en forte croissance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146" y="1353312"/>
            <a:ext cx="568862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4338CA"/>
                </a:solidFill>
                <a:latin typeface="Calibri"/>
              </a:rPr>
              <a:t>Objectifs du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00146" y="1773936"/>
            <a:ext cx="5688628" cy="1335024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00146" y="1810512"/>
            <a:ext cx="64008" cy="126187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2170" y="1773936"/>
            <a:ext cx="5423452" cy="1335024"/>
          </a:xfrm>
          <a:prstGeom prst="rect">
            <a:avLst/>
          </a:prstGeom>
          <a:noFill/>
        </p:spPr>
        <p:txBody>
          <a:bodyPr wrap="square" anchor="ctr" lIns="50800" rIns="50800" tIns="76200" bIns="76200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API opérationnelle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334155"/>
                </a:solidFill>
                <a:latin typeface="Calibri"/>
              </a:rPr>
              <a:t>· 3 endpoints POST opérationnels avec le modèle Qwen2-Audio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0146" y="3236976"/>
            <a:ext cx="5688628" cy="1335024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00146" y="3273552"/>
            <a:ext cx="64008" cy="126187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2170" y="3236976"/>
            <a:ext cx="5423452" cy="1335024"/>
          </a:xfrm>
          <a:prstGeom prst="rect">
            <a:avLst/>
          </a:prstGeom>
          <a:noFill/>
        </p:spPr>
        <p:txBody>
          <a:bodyPr wrap="square" anchor="ctr" lIns="50800" rIns="50800" tIns="76200" bIns="76200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Mise en application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334155"/>
                </a:solidFill>
                <a:latin typeface="Calibri"/>
              </a:rPr>
              <a:t>· Plateforme web complète d'Audio Understanding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00146" y="4700016"/>
            <a:ext cx="5688628" cy="1335024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00146" y="4736592"/>
            <a:ext cx="64008" cy="126187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2170" y="4700016"/>
            <a:ext cx="5423452" cy="1335024"/>
          </a:xfrm>
          <a:prstGeom prst="rect">
            <a:avLst/>
          </a:prstGeom>
          <a:noFill/>
        </p:spPr>
        <p:txBody>
          <a:bodyPr wrap="square" anchor="ctr" lIns="50800" rIns="50800" tIns="76200" bIns="76200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Rapport &amp; présentation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334155"/>
                </a:solidFill>
                <a:latin typeface="Calibri"/>
              </a:rPr>
              <a:t>· Documentation académique du travail réalisé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972281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4338CA"/>
                </a:solidFill>
                <a:latin typeface="Calibri"/>
              </a:rPr>
              <a:t>Le modèle : </a:t>
            </a:r>
            <a:r>
              <a:rPr sz="2600" b="1" i="0">
                <a:solidFill>
                  <a:srgbClr val="4F46E5"/>
                </a:solidFill>
                <a:latin typeface="Calibri"/>
              </a:rPr>
              <a:t>Qwen2-Audio-7B-Instruct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08615" y="329184"/>
            <a:ext cx="12801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onsolas"/>
              </a:rPr>
              <a:t>4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85855" cy="317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53312"/>
            <a:ext cx="5257351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4338CA"/>
                </a:solidFill>
                <a:latin typeface="Calibri"/>
              </a:rPr>
              <a:t>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5257351" cy="4956048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73936"/>
            <a:ext cx="64008" cy="48828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737360"/>
            <a:ext cx="4992175" cy="4956048"/>
          </a:xfrm>
          <a:prstGeom prst="rect">
            <a:avLst/>
          </a:prstGeom>
          <a:noFill/>
        </p:spPr>
        <p:txBody>
          <a:bodyPr wrap="square" anchor="ctr" lIns="50800" rIns="50800" tIns="101600" bIns="101600">
            <a:spAutoFit/>
          </a:bodyPr>
          <a:lstStyle/>
          <a:p>
            <a:pPr>
              <a:spcAft>
                <a:spcPts val="100"/>
              </a:spcAft>
            </a:pPr>
            <a:r>
              <a:rPr sz="1100" b="0" i="0">
                <a:solidFill>
                  <a:srgbClr val="334155"/>
                </a:solidFill>
                <a:latin typeface="Consolas"/>
              </a:rPr>
              <a:t>Audio  (16 kHz, WAV / MP3 / …)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334155"/>
                </a:solidFill>
                <a:latin typeface="Consolas"/>
              </a:rPr>
              <a:t>       |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334155"/>
                </a:solidFill>
                <a:latin typeface="Consolas"/>
              </a:rPr>
              <a:t>       v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334155"/>
                </a:solidFill>
                <a:latin typeface="Consolas"/>
              </a:rPr>
              <a:t>  Encodeur audio  (Whisper Large V2)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334155"/>
                </a:solidFill>
                <a:latin typeface="Consolas"/>
              </a:rPr>
              <a:t>  -&gt; embeddings audio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334155"/>
                </a:solidFill>
                <a:latin typeface="Consolas"/>
              </a:rPr>
              <a:t>       |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334155"/>
                </a:solidFill>
                <a:latin typeface="Consolas"/>
              </a:rPr>
              <a:t>       v  &lt;-- prompt texte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334155"/>
                </a:solidFill>
                <a:latin typeface="Consolas"/>
              </a:rPr>
              <a:t>  Fusion multimodale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334155"/>
                </a:solidFill>
                <a:latin typeface="Consolas"/>
              </a:rPr>
              <a:t>  (concaténation des tokens)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334155"/>
                </a:solidFill>
                <a:latin typeface="Consolas"/>
              </a:rPr>
              <a:t>       |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334155"/>
                </a:solidFill>
                <a:latin typeface="Consolas"/>
              </a:rPr>
              <a:t>       v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334155"/>
                </a:solidFill>
                <a:latin typeface="Consolas"/>
              </a:rPr>
              <a:t>  Décodeur Qwen2-7B  (7 Md params)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334155"/>
                </a:solidFill>
                <a:latin typeface="Consolas"/>
              </a:rPr>
              <a:t>       |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334155"/>
                </a:solidFill>
                <a:latin typeface="Consolas"/>
              </a:rPr>
              <a:t>       v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334155"/>
                </a:solidFill>
                <a:latin typeface="Consolas"/>
              </a:rPr>
              <a:t>  Réponse textuelle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88287" y="1353312"/>
            <a:ext cx="5800487" cy="3840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4338CA"/>
                </a:solidFill>
                <a:latin typeface="Calibri"/>
              </a:rPr>
              <a:t>Pourquoi ce modèle ?</a:t>
            </a: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4F46E5"/>
                </a:solidFill>
                <a:latin typeface="Calibri"/>
              </a:rPr>
              <a:t>·  </a:t>
            </a:r>
            <a:r>
              <a:rPr sz="1300" b="0" i="0">
                <a:solidFill>
                  <a:srgbClr val="334155"/>
                </a:solidFill>
                <a:latin typeface="Calibri"/>
              </a:rPr>
              <a:t>Open source (Apache 2.0) — aucune API payante</a:t>
            </a: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4F46E5"/>
                </a:solidFill>
                <a:latin typeface="Calibri"/>
              </a:rPr>
              <a:t>·  </a:t>
            </a:r>
            <a:r>
              <a:rPr sz="1300" b="0" i="0">
                <a:solidFill>
                  <a:srgbClr val="334155"/>
                </a:solidFill>
                <a:latin typeface="Calibri"/>
              </a:rPr>
              <a:t>Multilingue : français, anglais, arabe…</a:t>
            </a: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4F46E5"/>
                </a:solidFill>
                <a:latin typeface="Calibri"/>
              </a:rPr>
              <a:t>·  </a:t>
            </a:r>
            <a:r>
              <a:rPr sz="1300" b="0" i="0">
                <a:solidFill>
                  <a:srgbClr val="334155"/>
                </a:solidFill>
                <a:latin typeface="Calibri"/>
              </a:rPr>
              <a:t>Traitement natif de la forme d'onde audio</a:t>
            </a: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4F46E5"/>
                </a:solidFill>
                <a:latin typeface="Calibri"/>
              </a:rPr>
              <a:t>·  </a:t>
            </a:r>
            <a:r>
              <a:rPr sz="1300" b="0" i="0">
                <a:solidFill>
                  <a:srgbClr val="334155"/>
                </a:solidFill>
                <a:latin typeface="Calibri"/>
              </a:rPr>
              <a:t>Questions-réponses libres sur le contenu</a:t>
            </a: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4F46E5"/>
                </a:solidFill>
                <a:latin typeface="Calibri"/>
              </a:rPr>
              <a:t>·  </a:t>
            </a:r>
            <a:r>
              <a:rPr sz="1300" b="0" i="0">
                <a:solidFill>
                  <a:srgbClr val="334155"/>
                </a:solidFill>
                <a:latin typeface="Calibri"/>
              </a:rPr>
              <a:t>Analyse émotionnelle et tonale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88287" y="5303520"/>
            <a:ext cx="2194560" cy="310896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0" bIns="0"/>
          <a:lstStyle/>
          <a:p>
            <a:pPr algn="ctr"/>
            <a:r>
              <a:rPr sz="1100" b="1" i="0">
                <a:solidFill>
                  <a:srgbClr val="4338CA"/>
                </a:solidFill>
                <a:latin typeface="Calibri"/>
              </a:rPr>
              <a:t>7 Md paramètres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2575" y="5303520"/>
            <a:ext cx="2313432" cy="310896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0" bIns="0"/>
          <a:lstStyle/>
          <a:p>
            <a:pPr algn="ctr"/>
            <a:r>
              <a:rPr sz="1100" b="1" i="0">
                <a:solidFill>
                  <a:srgbClr val="4338CA"/>
                </a:solidFill>
                <a:latin typeface="Calibri"/>
              </a:rPr>
              <a:t>Encodeur Whisper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615735" y="5303520"/>
            <a:ext cx="2432304" cy="310896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0" bIns="0"/>
          <a:lstStyle/>
          <a:p>
            <a:pPr algn="ctr"/>
            <a:r>
              <a:rPr sz="1100" b="1" i="0">
                <a:solidFill>
                  <a:srgbClr val="4338CA"/>
                </a:solidFill>
                <a:latin typeface="Calibri"/>
              </a:rPr>
              <a:t>Instruction-tuned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157767" y="5303520"/>
            <a:ext cx="1719072" cy="310896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0" bIns="0"/>
          <a:lstStyle/>
          <a:p>
            <a:pPr algn="ctr"/>
            <a:r>
              <a:rPr sz="1100" b="1" i="0">
                <a:solidFill>
                  <a:srgbClr val="4338CA"/>
                </a:solidFill>
                <a:latin typeface="Calibri"/>
              </a:rPr>
              <a:t>HuggingFace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972281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4338CA"/>
                </a:solidFill>
                <a:latin typeface="Calibri"/>
              </a:rPr>
              <a:t>API opérationnelle — </a:t>
            </a:r>
            <a:r>
              <a:rPr sz="2600" b="1" i="0">
                <a:solidFill>
                  <a:srgbClr val="4F46E5"/>
                </a:solidFill>
                <a:latin typeface="Calibri"/>
              </a:rPr>
              <a:t>FastAPI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08615" y="329184"/>
            <a:ext cx="12801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onsolas"/>
              </a:rPr>
              <a:t>5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85855" cy="317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53312"/>
            <a:ext cx="11185855" cy="7315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64008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1554480"/>
            <a:ext cx="731520" cy="32918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353312"/>
            <a:ext cx="4114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4338CA"/>
                </a:solidFill>
                <a:latin typeface="Consolas"/>
              </a:rPr>
              <a:t>/api/v1/audio/transcribe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88152" y="1353312"/>
            <a:ext cx="5900623" cy="731520"/>
          </a:xfrm>
          <a:prstGeom prst="rect">
            <a:avLst/>
          </a:prstGeom>
          <a:noFill/>
        </p:spPr>
        <p:txBody>
          <a:bodyPr wrap="square" anchor="ctr" lIns="0" rIns="76200" tIns="0" bIns="0">
            <a:spAutoFit/>
          </a:bodyPr>
          <a:lstStyle/>
          <a:p>
            <a:r>
              <a:rPr sz="1200" b="0" i="0">
                <a:solidFill>
                  <a:srgbClr val="334155"/>
                </a:solidFill>
                <a:latin typeface="Calibri"/>
              </a:rPr>
              <a:t>Audio → transcription complète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67128"/>
            <a:ext cx="11185855" cy="7315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203704"/>
            <a:ext cx="64008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2368296"/>
            <a:ext cx="731520" cy="32918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67128"/>
            <a:ext cx="4114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4338CA"/>
                </a:solidFill>
                <a:latin typeface="Consolas"/>
              </a:rPr>
              <a:t>/api/v1/audio/understand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88152" y="2167128"/>
            <a:ext cx="5900623" cy="731520"/>
          </a:xfrm>
          <a:prstGeom prst="rect">
            <a:avLst/>
          </a:prstGeom>
          <a:noFill/>
        </p:spPr>
        <p:txBody>
          <a:bodyPr wrap="square" anchor="ctr" lIns="0" rIns="76200" tIns="0" bIns="0">
            <a:spAutoFit/>
          </a:bodyPr>
          <a:lstStyle/>
          <a:p>
            <a:r>
              <a:rPr sz="1200" b="0" i="0">
                <a:solidFill>
                  <a:srgbClr val="334155"/>
                </a:solidFill>
                <a:latin typeface="Calibri"/>
              </a:rPr>
              <a:t>Audio + question → réponse en langage naturel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80944"/>
            <a:ext cx="11185855" cy="7315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017520"/>
            <a:ext cx="64008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" y="3182112"/>
            <a:ext cx="731520" cy="32918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2980944"/>
            <a:ext cx="4114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4338CA"/>
                </a:solidFill>
                <a:latin typeface="Consolas"/>
              </a:rPr>
              <a:t>/api/v1/audio/analyze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88152" y="2980944"/>
            <a:ext cx="5900623" cy="731520"/>
          </a:xfrm>
          <a:prstGeom prst="rect">
            <a:avLst/>
          </a:prstGeom>
          <a:noFill/>
        </p:spPr>
        <p:txBody>
          <a:bodyPr wrap="square" anchor="ctr" lIns="0" rIns="76200" tIns="0" bIns="0">
            <a:spAutoFit/>
          </a:bodyPr>
          <a:lstStyle/>
          <a:p>
            <a:r>
              <a:rPr sz="1200" b="0" i="0">
                <a:solidFill>
                  <a:srgbClr val="334155"/>
                </a:solidFill>
                <a:latin typeface="Calibri"/>
              </a:rPr>
              <a:t>Audio → transcription + résumé + sentiment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94760"/>
            <a:ext cx="11185855" cy="7315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831336"/>
            <a:ext cx="64008" cy="65836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9224" y="3995928"/>
            <a:ext cx="731520" cy="329184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794760"/>
            <a:ext cx="4114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4338CA"/>
                </a:solidFill>
                <a:latin typeface="Consolas"/>
              </a:rPr>
              <a:t>/api/v1/health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88152" y="3794760"/>
            <a:ext cx="5900623" cy="731520"/>
          </a:xfrm>
          <a:prstGeom prst="rect">
            <a:avLst/>
          </a:prstGeom>
          <a:noFill/>
        </p:spPr>
        <p:txBody>
          <a:bodyPr wrap="square" anchor="ctr" lIns="0" rIns="76200" tIns="0" bIns="0">
            <a:spAutoFit/>
          </a:bodyPr>
          <a:lstStyle/>
          <a:p>
            <a:r>
              <a:rPr sz="1200" b="0" i="0">
                <a:solidFill>
                  <a:srgbClr val="334155"/>
                </a:solidFill>
                <a:latin typeface="Calibri"/>
              </a:rPr>
              <a:t>État du serveur et du modèle chargé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736592"/>
            <a:ext cx="55289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4338CA"/>
                </a:solidFill>
                <a:latin typeface="Calibri"/>
              </a:rPr>
              <a:t>Exemple — /understand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047488"/>
            <a:ext cx="5528919" cy="16459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5084064"/>
            <a:ext cx="64008" cy="15727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047488"/>
            <a:ext cx="5263743" cy="1645920"/>
          </a:xfrm>
          <a:prstGeom prst="rect">
            <a:avLst/>
          </a:prstGeom>
          <a:noFill/>
        </p:spPr>
        <p:txBody>
          <a:bodyPr wrap="square" anchor="ctr" lIns="50800" rIns="50800" tIns="101600" bIns="101600">
            <a:spAutoFit/>
          </a:bodyPr>
          <a:lstStyle/>
          <a:p>
            <a:pPr>
              <a:spcAft>
                <a:spcPts val="100"/>
              </a:spcAft>
            </a:pPr>
            <a:r>
              <a:rPr sz="1000" b="0" i="0">
                <a:solidFill>
                  <a:srgbClr val="334155"/>
                </a:solidFill>
                <a:latin typeface="Consolas"/>
              </a:rPr>
              <a:t>curl -X POST .../audio/understand \</a:t>
            </a:r>
          </a:p>
          <a:p>
            <a:pPr>
              <a:spcAft>
                <a:spcPts val="100"/>
              </a:spcAft>
            </a:pPr>
            <a:r>
              <a:rPr sz="1000" b="0" i="0">
                <a:solidFill>
                  <a:srgbClr val="334155"/>
                </a:solidFill>
                <a:latin typeface="Consolas"/>
              </a:rPr>
              <a:t>  -F "audio=@reunion.wav" \</a:t>
            </a:r>
          </a:p>
          <a:p>
            <a:pPr>
              <a:spcAft>
                <a:spcPts val="100"/>
              </a:spcAft>
            </a:pPr>
            <a:r>
              <a:rPr sz="1000" b="0" i="0">
                <a:solidFill>
                  <a:srgbClr val="334155"/>
                </a:solidFill>
                <a:latin typeface="Consolas"/>
              </a:rPr>
              <a:t>  -F "question=Quelle langue ?"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59855" y="4736592"/>
            <a:ext cx="55289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4338CA"/>
                </a:solidFill>
                <a:latin typeface="Calibri"/>
              </a:rPr>
              <a:t>Réponse JSON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59855" y="5047488"/>
            <a:ext cx="5528919" cy="16459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59855" y="5084064"/>
            <a:ext cx="64008" cy="15727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1879" y="5047488"/>
            <a:ext cx="5263743" cy="1645920"/>
          </a:xfrm>
          <a:prstGeom prst="rect">
            <a:avLst/>
          </a:prstGeom>
          <a:noFill/>
        </p:spPr>
        <p:txBody>
          <a:bodyPr wrap="square" anchor="ctr" lIns="50800" rIns="50800" tIns="101600" bIns="101600">
            <a:spAutoFit/>
          </a:bodyPr>
          <a:lstStyle/>
          <a:p>
            <a:pPr>
              <a:spcAft>
                <a:spcPts val="100"/>
              </a:spcAft>
            </a:pPr>
            <a:r>
              <a:rPr sz="1000" b="0" i="0">
                <a:solidFill>
                  <a:srgbClr val="334155"/>
                </a:solidFill>
                <a:latin typeface="Consolas"/>
              </a:rPr>
              <a:t>{</a:t>
            </a:r>
          </a:p>
          <a:p>
            <a:pPr>
              <a:spcAft>
                <a:spcPts val="100"/>
              </a:spcAft>
            </a:pPr>
            <a:r>
              <a:rPr sz="1000" b="0" i="0">
                <a:solidFill>
                  <a:srgbClr val="334155"/>
                </a:solidFill>
                <a:latin typeface="Consolas"/>
              </a:rPr>
              <a:t>  "answer": "L'audio est en français…",</a:t>
            </a:r>
          </a:p>
          <a:p>
            <a:pPr>
              <a:spcAft>
                <a:spcPts val="100"/>
              </a:spcAft>
            </a:pPr>
            <a:r>
              <a:rPr sz="1000" b="0" i="0">
                <a:solidFill>
                  <a:srgbClr val="334155"/>
                </a:solidFill>
                <a:latin typeface="Consolas"/>
              </a:rPr>
              <a:t>  "filename": "reunion.wav"</a:t>
            </a:r>
          </a:p>
          <a:p>
            <a:pPr>
              <a:spcAft>
                <a:spcPts val="100"/>
              </a:spcAft>
            </a:pPr>
            <a:r>
              <a:rPr sz="1000" b="0" i="0">
                <a:solidFill>
                  <a:srgbClr val="33415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972281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4338CA"/>
                </a:solidFill>
                <a:latin typeface="Calibri"/>
              </a:rPr>
              <a:t>Interface web — </a:t>
            </a:r>
            <a:r>
              <a:rPr sz="2600" b="1" i="0">
                <a:solidFill>
                  <a:srgbClr val="4F46E5"/>
                </a:solidFill>
                <a:latin typeface="Calibri"/>
              </a:rPr>
              <a:t>3 fonctionnalités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08615" y="329184"/>
            <a:ext cx="12801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onsolas"/>
              </a:rPr>
              <a:t>6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85855" cy="317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53312"/>
            <a:ext cx="3643274" cy="290779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64008" cy="2834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353312"/>
            <a:ext cx="3378098" cy="2907792"/>
          </a:xfrm>
          <a:prstGeom prst="rect">
            <a:avLst/>
          </a:prstGeom>
          <a:noFill/>
        </p:spPr>
        <p:txBody>
          <a:bodyPr wrap="square" anchor="ctr" lIns="50800" rIns="50800" tIns="76200" bIns="76200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Transcrire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334155"/>
                </a:solidFill>
                <a:latin typeface="Calibri"/>
              </a:rPr>
              <a:t>· Import de fichier audio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334155"/>
                </a:solidFill>
                <a:latin typeface="Calibri"/>
              </a:rPr>
              <a:t>· Enregistrement microphone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334155"/>
                </a:solidFill>
                <a:latin typeface="Calibri"/>
              </a:rPr>
              <a:t>· Transcription complète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334155"/>
                </a:solidFill>
                <a:latin typeface="Calibri"/>
              </a:rPr>
              <a:t>· Copie en un clic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4210" y="1353312"/>
            <a:ext cx="3643274" cy="290779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74210" y="1389888"/>
            <a:ext cx="64008" cy="2834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6234" y="1353312"/>
            <a:ext cx="3378098" cy="2907792"/>
          </a:xfrm>
          <a:prstGeom prst="rect">
            <a:avLst/>
          </a:prstGeom>
          <a:noFill/>
        </p:spPr>
        <p:txBody>
          <a:bodyPr wrap="square" anchor="ctr" lIns="50800" rIns="50800" tIns="76200" bIns="76200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Comprendre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334155"/>
                </a:solidFill>
                <a:latin typeface="Calibri"/>
              </a:rPr>
              <a:t>· Audio + question libre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334155"/>
                </a:solidFill>
                <a:latin typeface="Calibri"/>
              </a:rPr>
              <a:t>· Réponse contextuelle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334155"/>
                </a:solidFill>
                <a:latin typeface="Calibri"/>
              </a:rPr>
              <a:t>· Langage naturel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334155"/>
                </a:solidFill>
                <a:latin typeface="Calibri"/>
              </a:rPr>
              <a:t>· Questions-réponses ouvertes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5500" y="1353312"/>
            <a:ext cx="3643274" cy="290779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5500" y="1389888"/>
            <a:ext cx="64008" cy="2834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7524" y="1353312"/>
            <a:ext cx="3378098" cy="2907792"/>
          </a:xfrm>
          <a:prstGeom prst="rect">
            <a:avLst/>
          </a:prstGeom>
          <a:noFill/>
        </p:spPr>
        <p:txBody>
          <a:bodyPr wrap="square" anchor="ctr" lIns="50800" rIns="50800" tIns="76200" bIns="76200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Analyser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334155"/>
                </a:solidFill>
                <a:latin typeface="Calibri"/>
              </a:rPr>
              <a:t>· Transcription intégrale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334155"/>
                </a:solidFill>
                <a:latin typeface="Calibri"/>
              </a:rPr>
              <a:t>· Résumé automatique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334155"/>
                </a:solidFill>
                <a:latin typeface="Calibri"/>
              </a:rPr>
              <a:t>· Détection du sentiment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334155"/>
                </a:solidFill>
                <a:latin typeface="Calibri"/>
              </a:rPr>
              <a:t>· Rapport complet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389120"/>
            <a:ext cx="11185855" cy="2304288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425696"/>
            <a:ext cx="64008" cy="223113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389120"/>
            <a:ext cx="10920679" cy="2304288"/>
          </a:xfrm>
          <a:prstGeom prst="rect">
            <a:avLst/>
          </a:prstGeom>
          <a:noFill/>
        </p:spPr>
        <p:txBody>
          <a:bodyPr wrap="square" anchor="ctr" lIns="76200" rIns="76200" tIns="76200" bIns="76200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Technologies front-end</a:t>
            </a:r>
          </a:p>
          <a:p>
            <a:r>
              <a:rPr sz="1200" b="0" i="0">
                <a:solidFill>
                  <a:srgbClr val="334155"/>
                </a:solidFill>
                <a:latin typeface="Calibri"/>
              </a:rPr>
              <a:t>HTML5 / CSS3 / JavaScript vanilla — MediaRecorder API, Fetch API, glisser-déposer. Interface en français servie directement par le backend FastAPI (même origine).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972281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4338CA"/>
                </a:solidFill>
                <a:latin typeface="Calibri"/>
              </a:rPr>
              <a:t>Pipeline technique d'inférence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08615" y="329184"/>
            <a:ext cx="12801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onsolas"/>
              </a:rPr>
              <a:t>7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85855" cy="317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53312"/>
            <a:ext cx="11185855" cy="65314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64008" cy="57999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353312"/>
            <a:ext cx="2286000" cy="653142"/>
          </a:xfrm>
          <a:prstGeom prst="rect">
            <a:avLst/>
          </a:prstGeom>
          <a:noFill/>
        </p:spPr>
        <p:txBody>
          <a:bodyPr wrap="square" anchor="ctr" lIns="0" rIns="50800" tIns="0" bIns="0">
            <a:spAutoFit/>
          </a:bodyPr>
          <a:lstStyle/>
          <a:p>
            <a:r>
              <a:rPr sz="1300" b="1" i="0">
                <a:solidFill>
                  <a:srgbClr val="4338CA"/>
                </a:solidFill>
                <a:latin typeface="Calibri"/>
              </a:rPr>
              <a:t>1. Réception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072384" y="1451283"/>
            <a:ext cx="12700" cy="457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18688" y="1353312"/>
            <a:ext cx="8470087" cy="653142"/>
          </a:xfrm>
          <a:prstGeom prst="rect">
            <a:avLst/>
          </a:prstGeom>
          <a:noFill/>
        </p:spPr>
        <p:txBody>
          <a:bodyPr wrap="square" anchor="ctr" lIns="76200" rIns="76200" tIns="0" bIns="0">
            <a:spAutoFit/>
          </a:bodyPr>
          <a:lstStyle/>
          <a:p>
            <a:r>
              <a:rPr sz="1200" b="0" i="0">
                <a:solidFill>
                  <a:srgbClr val="334155"/>
                </a:solidFill>
                <a:latin typeface="Calibri"/>
              </a:rPr>
              <a:t>Requête HTTP POST multipart/form-data — validation : format, taille ≤ 50 Mo, contenu non vide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34470"/>
            <a:ext cx="11185855" cy="65314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71046"/>
            <a:ext cx="64008" cy="57999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4470"/>
            <a:ext cx="2286000" cy="653142"/>
          </a:xfrm>
          <a:prstGeom prst="rect">
            <a:avLst/>
          </a:prstGeom>
          <a:noFill/>
        </p:spPr>
        <p:txBody>
          <a:bodyPr wrap="square" anchor="ctr" lIns="0" rIns="50800" tIns="0" bIns="0">
            <a:spAutoFit/>
          </a:bodyPr>
          <a:lstStyle/>
          <a:p>
            <a:r>
              <a:rPr sz="1300" b="1" i="0">
                <a:solidFill>
                  <a:srgbClr val="4338CA"/>
                </a:solidFill>
                <a:latin typeface="Calibri"/>
              </a:rPr>
              <a:t>2. Décodage audio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72384" y="2232442"/>
            <a:ext cx="12700" cy="457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18688" y="2134470"/>
            <a:ext cx="8470087" cy="653142"/>
          </a:xfrm>
          <a:prstGeom prst="rect">
            <a:avLst/>
          </a:prstGeom>
          <a:noFill/>
        </p:spPr>
        <p:txBody>
          <a:bodyPr wrap="square" anchor="ctr" lIns="76200" rIns="76200" tIns="0" bIns="0">
            <a:spAutoFit/>
          </a:bodyPr>
          <a:lstStyle/>
          <a:p>
            <a:r>
              <a:rPr sz="1200" b="0" i="0">
                <a:solidFill>
                  <a:srgbClr val="334155"/>
                </a:solidFill>
                <a:latin typeface="Calibri"/>
              </a:rPr>
              <a:t>soundfile → WAV/FLAC/OGG ; librosa + ffmpeg → MP3/M4A/WebM-Opus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15629"/>
            <a:ext cx="11185855" cy="65314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952205"/>
            <a:ext cx="64008" cy="57999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2915629"/>
            <a:ext cx="2286000" cy="653142"/>
          </a:xfrm>
          <a:prstGeom prst="rect">
            <a:avLst/>
          </a:prstGeom>
          <a:noFill/>
        </p:spPr>
        <p:txBody>
          <a:bodyPr wrap="square" anchor="ctr" lIns="0" rIns="50800" tIns="0" bIns="0">
            <a:spAutoFit/>
          </a:bodyPr>
          <a:lstStyle/>
          <a:p>
            <a:r>
              <a:rPr sz="1300" b="1" i="0">
                <a:solidFill>
                  <a:srgbClr val="4338CA"/>
                </a:solidFill>
                <a:latin typeface="Calibri"/>
              </a:rPr>
              <a:t>3. Rééchantillonnage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72384" y="3013601"/>
            <a:ext cx="12700" cy="457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18688" y="2915629"/>
            <a:ext cx="8470087" cy="653142"/>
          </a:xfrm>
          <a:prstGeom prst="rect">
            <a:avLst/>
          </a:prstGeom>
          <a:noFill/>
        </p:spPr>
        <p:txBody>
          <a:bodyPr wrap="square" anchor="ctr" lIns="76200" rIns="76200" tIns="0" bIns="0">
            <a:spAutoFit/>
          </a:bodyPr>
          <a:lstStyle/>
          <a:p>
            <a:r>
              <a:rPr sz="1200" b="0" i="0">
                <a:solidFill>
                  <a:srgbClr val="334155"/>
                </a:solidFill>
                <a:latin typeface="Calibri"/>
              </a:rPr>
              <a:t>Conversion en 16 000 Hz, mono, float32 (fréquence attendue par l'encodeur)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696788"/>
            <a:ext cx="11185855" cy="65314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733364"/>
            <a:ext cx="64008" cy="57999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3696788"/>
            <a:ext cx="2286000" cy="653142"/>
          </a:xfrm>
          <a:prstGeom prst="rect">
            <a:avLst/>
          </a:prstGeom>
          <a:noFill/>
        </p:spPr>
        <p:txBody>
          <a:bodyPr wrap="square" anchor="ctr" lIns="0" rIns="50800" tIns="0" bIns="0">
            <a:spAutoFit/>
          </a:bodyPr>
          <a:lstStyle/>
          <a:p>
            <a:r>
              <a:rPr sz="1300" b="1" i="0">
                <a:solidFill>
                  <a:srgbClr val="4338CA"/>
                </a:solidFill>
                <a:latin typeface="Calibri"/>
              </a:rPr>
              <a:t>4. Chat template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72384" y="3794759"/>
            <a:ext cx="12700" cy="457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18688" y="3696788"/>
            <a:ext cx="8470087" cy="653142"/>
          </a:xfrm>
          <a:prstGeom prst="rect">
            <a:avLst/>
          </a:prstGeom>
          <a:noFill/>
        </p:spPr>
        <p:txBody>
          <a:bodyPr wrap="square" anchor="ctr" lIns="76200" rIns="76200" tIns="0" bIns="0">
            <a:spAutoFit/>
          </a:bodyPr>
          <a:lstStyle/>
          <a:p>
            <a:r>
              <a:rPr sz="1200" b="0" i="0">
                <a:solidFill>
                  <a:srgbClr val="334155"/>
                </a:solidFill>
                <a:latin typeface="Calibri"/>
              </a:rPr>
              <a:t>Construction de la conversation Qwen2-Audio (tokens audio + tokens texte)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477947"/>
            <a:ext cx="11185855" cy="65314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514523"/>
            <a:ext cx="64008" cy="57999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4477947"/>
            <a:ext cx="2286000" cy="653142"/>
          </a:xfrm>
          <a:prstGeom prst="rect">
            <a:avLst/>
          </a:prstGeom>
          <a:noFill/>
        </p:spPr>
        <p:txBody>
          <a:bodyPr wrap="square" anchor="ctr" lIns="0" rIns="50800" tIns="0" bIns="0">
            <a:spAutoFit/>
          </a:bodyPr>
          <a:lstStyle/>
          <a:p>
            <a:r>
              <a:rPr sz="1300" b="1" i="0">
                <a:solidFill>
                  <a:srgbClr val="4338CA"/>
                </a:solidFill>
                <a:latin typeface="Calibri"/>
              </a:rPr>
              <a:t>5. AutoProcessor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72384" y="4575918"/>
            <a:ext cx="12700" cy="457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18688" y="4477947"/>
            <a:ext cx="8470087" cy="653142"/>
          </a:xfrm>
          <a:prstGeom prst="rect">
            <a:avLst/>
          </a:prstGeom>
          <a:noFill/>
        </p:spPr>
        <p:txBody>
          <a:bodyPr wrap="square" anchor="ctr" lIns="76200" rIns="76200" tIns="0" bIns="0">
            <a:spAutoFit/>
          </a:bodyPr>
          <a:lstStyle/>
          <a:p>
            <a:r>
              <a:rPr sz="1200" b="0" i="0">
                <a:solidFill>
                  <a:srgbClr val="334155"/>
                </a:solidFill>
                <a:latin typeface="Calibri"/>
              </a:rPr>
              <a:t>Texte → tokens ; audio → input_features → tenseurs PyTorch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259106"/>
            <a:ext cx="11185855" cy="65314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5295682"/>
            <a:ext cx="64008" cy="57999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5259106"/>
            <a:ext cx="2286000" cy="653142"/>
          </a:xfrm>
          <a:prstGeom prst="rect">
            <a:avLst/>
          </a:prstGeom>
          <a:noFill/>
        </p:spPr>
        <p:txBody>
          <a:bodyPr wrap="square" anchor="ctr" lIns="0" rIns="50800" tIns="0" bIns="0">
            <a:spAutoFit/>
          </a:bodyPr>
          <a:lstStyle/>
          <a:p>
            <a:r>
              <a:rPr sz="1300" b="1" i="0">
                <a:solidFill>
                  <a:srgbClr val="4338CA"/>
                </a:solidFill>
                <a:latin typeface="Calibri"/>
              </a:rPr>
              <a:t>6. Inférence GPU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72384" y="5357077"/>
            <a:ext cx="12700" cy="457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18688" y="5259106"/>
            <a:ext cx="8470087" cy="653142"/>
          </a:xfrm>
          <a:prstGeom prst="rect">
            <a:avLst/>
          </a:prstGeom>
          <a:noFill/>
        </p:spPr>
        <p:txBody>
          <a:bodyPr wrap="square" anchor="ctr" lIns="76200" rIns="76200" tIns="0" bIns="0">
            <a:spAutoFit/>
          </a:bodyPr>
          <a:lstStyle/>
          <a:p>
            <a:r>
              <a:rPr sz="1200" b="0" i="0">
                <a:solidFill>
                  <a:srgbClr val="334155"/>
                </a:solidFill>
                <a:latin typeface="Calibri"/>
              </a:rPr>
              <a:t>model.generate() → décodage autorégressif des tokens → réponse textuelle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6040265"/>
            <a:ext cx="11185855" cy="65314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6076841"/>
            <a:ext cx="64008" cy="57999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" y="6040265"/>
            <a:ext cx="2286000" cy="653142"/>
          </a:xfrm>
          <a:prstGeom prst="rect">
            <a:avLst/>
          </a:prstGeom>
          <a:noFill/>
        </p:spPr>
        <p:txBody>
          <a:bodyPr wrap="square" anchor="ctr" lIns="0" rIns="50800" tIns="0" bIns="0">
            <a:spAutoFit/>
          </a:bodyPr>
          <a:lstStyle/>
          <a:p>
            <a:r>
              <a:rPr sz="1300" b="1" i="0">
                <a:solidFill>
                  <a:srgbClr val="4338CA"/>
                </a:solidFill>
                <a:latin typeface="Calibri"/>
              </a:rPr>
              <a:t>7. Sérialisation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72384" y="6138236"/>
            <a:ext cx="12700" cy="457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18688" y="6040265"/>
            <a:ext cx="8470087" cy="653142"/>
          </a:xfrm>
          <a:prstGeom prst="rect">
            <a:avLst/>
          </a:prstGeom>
          <a:noFill/>
        </p:spPr>
        <p:txBody>
          <a:bodyPr wrap="square" anchor="ctr" lIns="76200" rIns="76200" tIns="0" bIns="0">
            <a:spAutoFit/>
          </a:bodyPr>
          <a:lstStyle/>
          <a:p>
            <a:r>
              <a:rPr sz="1200" b="0" i="0">
                <a:solidFill>
                  <a:srgbClr val="334155"/>
                </a:solidFill>
                <a:latin typeface="Calibri"/>
              </a:rPr>
              <a:t>Réponse JSON → HTTP 200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972281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4338CA"/>
                </a:solidFill>
                <a:latin typeface="Calibri"/>
              </a:rPr>
              <a:t>Déploiement sur </a:t>
            </a:r>
            <a:r>
              <a:rPr sz="2600" b="1" i="0">
                <a:solidFill>
                  <a:srgbClr val="4F46E5"/>
                </a:solidFill>
                <a:latin typeface="Calibri"/>
              </a:rPr>
              <a:t>Google Colab T4 + 4-bit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08615" y="329184"/>
            <a:ext cx="12801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onsolas"/>
              </a:rPr>
              <a:t>8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85855" cy="317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53312"/>
            <a:ext cx="5425139" cy="53400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4338CA"/>
                </a:solidFill>
                <a:latin typeface="Calibri"/>
              </a:rPr>
              <a:t>Pourquoi la quantification est obligatoire</a:t>
            </a: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4F46E5"/>
                </a:solidFill>
                <a:latin typeface="Calibri"/>
              </a:rPr>
              <a:t>·  </a:t>
            </a:r>
            <a:r>
              <a:rPr sz="1300" b="0" i="0">
                <a:solidFill>
                  <a:srgbClr val="334155"/>
                </a:solidFill>
                <a:latin typeface="Calibri"/>
              </a:rPr>
              <a:t>T4 GPU : 15 Go VRAM — modèle fp16 : ~16 Go → dépassement</a:t>
            </a: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4F46E5"/>
                </a:solidFill>
                <a:latin typeface="Calibri"/>
              </a:rPr>
              <a:t>·  </a:t>
            </a:r>
            <a:r>
              <a:rPr sz="1300" b="0" i="0">
                <a:solidFill>
                  <a:srgbClr val="334155"/>
                </a:solidFill>
                <a:latin typeface="Calibri"/>
              </a:rPr>
              <a:t>4-bit NF4 (bitsandbytes) réduit à ~5 Go → compatible T4</a:t>
            </a: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4F46E5"/>
                </a:solidFill>
                <a:latin typeface="Calibri"/>
              </a:rPr>
              <a:t>·  </a:t>
            </a:r>
            <a:r>
              <a:rPr sz="1300" b="0" i="0">
                <a:solidFill>
                  <a:srgbClr val="334155"/>
                </a:solidFill>
                <a:latin typeface="Calibri"/>
              </a:rPr>
              <a:t>NF4 conçu pour poids gaussiens → faible perte de qualité</a:t>
            </a: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4F46E5"/>
                </a:solidFill>
                <a:latin typeface="Calibri"/>
              </a:rPr>
              <a:t>·  </a:t>
            </a:r>
            <a:r>
              <a:rPr sz="1300" b="0" i="0">
                <a:solidFill>
                  <a:srgbClr val="334155"/>
                </a:solidFill>
                <a:latin typeface="Calibri"/>
              </a:rPr>
              <a:t>Double quantification + compute dtype fp16</a:t>
            </a: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4F46E5"/>
                </a:solidFill>
                <a:latin typeface="Calibri"/>
              </a:rPr>
              <a:t>·  </a:t>
            </a:r>
            <a:r>
              <a:rPr sz="1300" b="0" i="0">
                <a:solidFill>
                  <a:srgbClr val="334155"/>
                </a:solidFill>
                <a:latin typeface="Calibri"/>
              </a:rPr>
              <a:t>LOAD_IN_4BIT=true activé dans le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56075" y="1353312"/>
            <a:ext cx="563269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4338CA"/>
                </a:solidFill>
                <a:latin typeface="Calibri"/>
              </a:rPr>
              <a:t>Empreinte mémoire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56075" y="1755648"/>
            <a:ext cx="5632699" cy="1389888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56075" y="1792224"/>
            <a:ext cx="64008" cy="131673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48099" y="1755648"/>
            <a:ext cx="5367523" cy="1389888"/>
          </a:xfrm>
          <a:prstGeom prst="rect">
            <a:avLst/>
          </a:prstGeom>
          <a:noFill/>
        </p:spPr>
        <p:txBody>
          <a:bodyPr wrap="square" anchor="ctr" lIns="50800" rIns="50800" tIns="101600" bIns="101600">
            <a:spAutoFit/>
          </a:bodyPr>
          <a:lstStyle/>
          <a:p>
            <a:pPr>
              <a:spcAft>
                <a:spcPts val="100"/>
              </a:spcAft>
            </a:pPr>
            <a:r>
              <a:rPr sz="1100" b="0" i="0">
                <a:solidFill>
                  <a:srgbClr val="334155"/>
                </a:solidFill>
                <a:latin typeface="Consolas"/>
              </a:rPr>
              <a:t>float16  ~16 Go  → A100 seulement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334155"/>
                </a:solidFill>
                <a:latin typeface="Consolas"/>
              </a:rPr>
              <a:t>8-bit    ~8 Go   → A100 / V100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334155"/>
                </a:solidFill>
                <a:latin typeface="Consolas"/>
              </a:rPr>
              <a:t>4-bit    ~5 Go   → T4, tout GPU &gt;= 6 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56075" y="3273552"/>
            <a:ext cx="563269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4338CA"/>
                </a:solidFill>
                <a:latin typeface="Calibri"/>
              </a:rPr>
              <a:t>Flux de déploiement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56075" y="3657600"/>
            <a:ext cx="5632699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56075" y="3694176"/>
            <a:ext cx="64008" cy="17556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8099" y="3657600"/>
            <a:ext cx="5367523" cy="1828800"/>
          </a:xfrm>
          <a:prstGeom prst="rect">
            <a:avLst/>
          </a:prstGeom>
          <a:noFill/>
        </p:spPr>
        <p:txBody>
          <a:bodyPr wrap="square" anchor="ctr" lIns="50800" rIns="50800" tIns="101600" bIns="101600">
            <a:spAutoFit/>
          </a:bodyPr>
          <a:lstStyle/>
          <a:p>
            <a:pPr>
              <a:spcAft>
                <a:spcPts val="100"/>
              </a:spcAft>
            </a:pPr>
            <a:r>
              <a:rPr sz="1100" b="0" i="0">
                <a:solidFill>
                  <a:srgbClr val="334155"/>
                </a:solidFill>
                <a:latin typeface="Consolas"/>
              </a:rPr>
              <a:t>GPU Colab T4 (15 Go)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334155"/>
                </a:solidFill>
                <a:latin typeface="Consolas"/>
              </a:rPr>
              <a:t>  LOAD_IN_4BIT=true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334155"/>
                </a:solidFill>
                <a:latin typeface="Consolas"/>
              </a:rPr>
              <a:t>      |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334155"/>
                </a:solidFill>
                <a:latin typeface="Consolas"/>
              </a:rPr>
              <a:t>  uvicorn : 8000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334155"/>
                </a:solidFill>
                <a:latin typeface="Consolas"/>
              </a:rPr>
              <a:t>      |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334155"/>
                </a:solidFill>
                <a:latin typeface="Consolas"/>
              </a:rPr>
              <a:t>  cloudflared (tunnel)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334155"/>
                </a:solidFill>
                <a:latin typeface="Consolas"/>
              </a:rPr>
              <a:t>      |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334155"/>
                </a:solidFill>
                <a:latin typeface="Consolas"/>
              </a:rPr>
              <a:t>  URL publique → navigateur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972281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4338CA"/>
                </a:solidFill>
                <a:latin typeface="Calibri"/>
              </a:rPr>
              <a:t>Difficultés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08615" y="329184"/>
            <a:ext cx="12801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onsolas"/>
              </a:rPr>
              <a:t>9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85855" cy="317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53312"/>
            <a:ext cx="11185855" cy="1694688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64008" cy="162153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353312"/>
            <a:ext cx="10920679" cy="1694688"/>
          </a:xfrm>
          <a:prstGeom prst="rect">
            <a:avLst/>
          </a:prstGeom>
          <a:noFill/>
        </p:spPr>
        <p:txBody>
          <a:bodyPr wrap="square" anchor="t" lIns="50800" rIns="76200" tIns="152400" bIns="101600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Formats audio hétérogènes</a:t>
            </a:r>
          </a:p>
          <a:p>
            <a:r>
              <a:rPr sz="1200" b="0" i="0">
                <a:solidFill>
                  <a:srgbClr val="334155"/>
                </a:solidFill>
                <a:latin typeface="Calibri"/>
              </a:rPr>
              <a:t>Les navigateurs enregistrent en WebM/Opus, non géré par soundfile. Solution : double décodeur — soundfile d'abord, puis librosa + ffmpeg en secours.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176016"/>
            <a:ext cx="11185855" cy="1694688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3212592"/>
            <a:ext cx="64008" cy="162153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3176016"/>
            <a:ext cx="10920679" cy="1694688"/>
          </a:xfrm>
          <a:prstGeom prst="rect">
            <a:avLst/>
          </a:prstGeom>
          <a:noFill/>
        </p:spPr>
        <p:txBody>
          <a:bodyPr wrap="square" anchor="t" lIns="50800" rIns="76200" tIns="152400" bIns="101600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Audio non transmis au modèle</a:t>
            </a:r>
          </a:p>
          <a:p>
            <a:r>
              <a:rPr sz="1200" b="0" i="0">
                <a:solidFill>
                  <a:srgbClr val="334155"/>
                </a:solidFill>
                <a:latin typeface="Calibri"/>
              </a:rPr>
              <a:t>Le modèle répondait « je ne peux pas accéder à l'audio » sans erreur visible. Cause : l'argument du processeur a été renommé selon la version de transformers (audios → audio) et était silencieusement ignoré. Solution : essayer les deux noms, vérifier input_features (erreur explicite sinon) et aligner le dtype audio en float16.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998720"/>
            <a:ext cx="11185855" cy="1694688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5035296"/>
            <a:ext cx="64008" cy="162153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4998720"/>
            <a:ext cx="10920679" cy="1694688"/>
          </a:xfrm>
          <a:prstGeom prst="rect">
            <a:avLst/>
          </a:prstGeom>
          <a:noFill/>
        </p:spPr>
        <p:txBody>
          <a:bodyPr wrap="square" anchor="t" lIns="50800" rIns="76200" tIns="152400" bIns="101600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Contrainte mémoire GPU (T4 = 15 Go &lt; 16 Go requis)</a:t>
            </a:r>
          </a:p>
          <a:p>
            <a:r>
              <a:rPr sz="1200" b="0" i="0">
                <a:solidFill>
                  <a:srgbClr val="334155"/>
                </a:solidFill>
                <a:latin typeface="Calibri"/>
              </a:rPr>
              <a:t>Le modèle 7B en float16 exige ~16 Go de VRAM, dépassant le T4 Colab (15 Go). Solution : quantification 4-bit NF4 via bitsandbytes — empreinte réduite à ~5 Go, compatible T4, perte de qualité minimale.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972281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4338CA"/>
                </a:solidFill>
                <a:latin typeface="Calibri"/>
              </a:rPr>
              <a:t>Pistes d'amélioration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08615" y="329184"/>
            <a:ext cx="12801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onsolas"/>
              </a:rPr>
              <a:t>10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85855" cy="317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53312"/>
            <a:ext cx="5528919" cy="17373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64008" cy="16642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353312"/>
            <a:ext cx="5263743" cy="1737360"/>
          </a:xfrm>
          <a:prstGeom prst="rect">
            <a:avLst/>
          </a:prstGeom>
          <a:noFill/>
        </p:spPr>
        <p:txBody>
          <a:bodyPr wrap="square" anchor="ctr" lIns="50800" rIns="50800" tIns="76200" bIns="76200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Streaming des réponses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334155"/>
                </a:solidFill>
                <a:latin typeface="Calibri"/>
              </a:rPr>
              <a:t>· Server-Sent Events : afficher les tokens au fur et à mesure.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9855" y="1353312"/>
            <a:ext cx="5528919" cy="17373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59855" y="1389888"/>
            <a:ext cx="64008" cy="16642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1879" y="1353312"/>
            <a:ext cx="5263743" cy="1737360"/>
          </a:xfrm>
          <a:prstGeom prst="rect">
            <a:avLst/>
          </a:prstGeom>
          <a:noFill/>
        </p:spPr>
        <p:txBody>
          <a:bodyPr wrap="square" anchor="ctr" lIns="50800" rIns="50800" tIns="76200" bIns="76200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Conversation multi-tours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334155"/>
                </a:solidFill>
                <a:latin typeface="Calibri"/>
              </a:rPr>
              <a:t>· Conserver l'historique des échanges sur un même audio.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218688"/>
            <a:ext cx="5528919" cy="17373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255264"/>
            <a:ext cx="64008" cy="16642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218688"/>
            <a:ext cx="5263743" cy="1737360"/>
          </a:xfrm>
          <a:prstGeom prst="rect">
            <a:avLst/>
          </a:prstGeom>
          <a:noFill/>
        </p:spPr>
        <p:txBody>
          <a:bodyPr wrap="square" anchor="ctr" lIns="50800" rIns="50800" tIns="76200" bIns="76200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Détection de langue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334155"/>
                </a:solidFill>
                <a:latin typeface="Calibri"/>
              </a:rPr>
              <a:t>· Identifier la langue et adapter la réponse automatiquement.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9855" y="3218688"/>
            <a:ext cx="5528919" cy="17373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59855" y="3255264"/>
            <a:ext cx="64008" cy="16642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1879" y="3218688"/>
            <a:ext cx="5263743" cy="1737360"/>
          </a:xfrm>
          <a:prstGeom prst="rect">
            <a:avLst/>
          </a:prstGeom>
          <a:noFill/>
        </p:spPr>
        <p:txBody>
          <a:bodyPr wrap="square" anchor="ctr" lIns="50800" rIns="50800" tIns="76200" bIns="76200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Traitement des audios longs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334155"/>
                </a:solidFill>
                <a:latin typeface="Calibri"/>
              </a:rPr>
              <a:t>· Découpage (chunking) pour réunions et conférences.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084064"/>
            <a:ext cx="5528919" cy="17373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120640"/>
            <a:ext cx="64008" cy="16642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5084064"/>
            <a:ext cx="5263743" cy="1737360"/>
          </a:xfrm>
          <a:prstGeom prst="rect">
            <a:avLst/>
          </a:prstGeom>
          <a:noFill/>
        </p:spPr>
        <p:txBody>
          <a:bodyPr wrap="square" anchor="ctr" lIns="50800" rIns="50800" tIns="76200" bIns="76200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Quantification avancée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334155"/>
                </a:solidFill>
                <a:latin typeface="Calibri"/>
              </a:rPr>
              <a:t>· GPTQ / AWQ au-delà du 4/8 bits déjà pris en charge.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59855" y="5084064"/>
            <a:ext cx="5528919" cy="17373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59855" y="5120640"/>
            <a:ext cx="64008" cy="16642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5084064"/>
            <a:ext cx="5263743" cy="1737360"/>
          </a:xfrm>
          <a:prstGeom prst="rect">
            <a:avLst/>
          </a:prstGeom>
          <a:noFill/>
        </p:spPr>
        <p:txBody>
          <a:bodyPr wrap="square" anchor="ctr" lIns="50800" rIns="50800" tIns="76200" bIns="76200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Évaluation formelle (WER)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334155"/>
                </a:solidFill>
                <a:latin typeface="Calibri"/>
              </a:rPr>
              <a:t>· Mesurer le Word Error Rate sur un corpus francophone.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0F172A"/>
                </a:solidFill>
                <a:latin typeface="Calibri"/>
              </a:rPr>
              <a:t>Merci de votre attention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74519"/>
            <a:ext cx="10332720" cy="8229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911095"/>
            <a:ext cx="64008" cy="74980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874519"/>
            <a:ext cx="10067544" cy="822960"/>
          </a:xfrm>
          <a:prstGeom prst="rect">
            <a:avLst/>
          </a:prstGeom>
          <a:noFill/>
        </p:spPr>
        <p:txBody>
          <a:bodyPr wrap="square" anchor="ctr" lIns="50800" rIns="50800" tIns="0" bIns="0">
            <a:spAutoFit/>
          </a:bodyPr>
          <a:lstStyle/>
          <a:p>
            <a:r>
              <a:rPr sz="1400" b="0" i="0">
                <a:solidFill>
                  <a:srgbClr val="334155"/>
                </a:solidFill>
                <a:latin typeface="Calibri"/>
              </a:rPr>
              <a:t>3 endpoints POST opérationnels — /transcribe · /understand · /analyze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825496"/>
            <a:ext cx="10332720" cy="8229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862072"/>
            <a:ext cx="64008" cy="74980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2825496"/>
            <a:ext cx="10067544" cy="822960"/>
          </a:xfrm>
          <a:prstGeom prst="rect">
            <a:avLst/>
          </a:prstGeom>
          <a:noFill/>
        </p:spPr>
        <p:txBody>
          <a:bodyPr wrap="square" anchor="ctr" lIns="50800" rIns="50800" tIns="0" bIns="0">
            <a:spAutoFit/>
          </a:bodyPr>
          <a:lstStyle/>
          <a:p>
            <a:r>
              <a:rPr sz="1400" b="0" i="0">
                <a:solidFill>
                  <a:srgbClr val="334155"/>
                </a:solidFill>
                <a:latin typeface="Calibri"/>
              </a:rPr>
              <a:t>Interface web claire : import fichier, enregistrement micro et 3 onglets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776472"/>
            <a:ext cx="10332720" cy="8229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813048"/>
            <a:ext cx="64008" cy="74980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3776472"/>
            <a:ext cx="10067544" cy="822960"/>
          </a:xfrm>
          <a:prstGeom prst="rect">
            <a:avLst/>
          </a:prstGeom>
          <a:noFill/>
        </p:spPr>
        <p:txBody>
          <a:bodyPr wrap="square" anchor="ctr" lIns="50800" rIns="50800" tIns="0" bIns="0">
            <a:spAutoFit/>
          </a:bodyPr>
          <a:lstStyle/>
          <a:p>
            <a:r>
              <a:rPr sz="1400" b="0" i="0">
                <a:solidFill>
                  <a:srgbClr val="334155"/>
                </a:solidFill>
                <a:latin typeface="Calibri"/>
              </a:rPr>
              <a:t>Déployé sur GPU Colab A100 — modèle open source, aucune API payante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9204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0F172A"/>
                </a:solidFill>
                <a:latin typeface="Calibri"/>
              </a:rPr>
              <a:t>Tassnim &amp; Zineb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94A3B8"/>
                </a:solidFill>
                <a:latin typeface="Calibri"/>
              </a:rPr>
              <a:t>Pr. Smail Tigani · Université Euromed de Fès · EIDIA · 2025/2026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