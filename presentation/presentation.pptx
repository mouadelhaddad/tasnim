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058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94A3B8"/>
                </a:solidFill>
                <a:latin typeface="Calibri"/>
              </a:rPr>
              <a:t>Université Euromed de Fès  ·  EIDIA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1" i="0">
                <a:solidFill>
                  <a:srgbClr val="0F172A"/>
                </a:solidFill>
                <a:latin typeface="Calibri"/>
              </a:rPr>
              <a:t>Compréhension </a:t>
            </a:r>
            <a:r>
              <a:rPr sz="4400" b="1" i="0">
                <a:solidFill>
                  <a:srgbClr val="4F46E5"/>
                </a:solidFill>
                <a:latin typeface="Calibri"/>
              </a:rPr>
              <a:t>Audio</a:t>
            </a:r>
          </a:p>
          <a:p>
            <a:pPr>
              <a:spcBef>
                <a:spcPts val="600"/>
              </a:spcBef>
            </a:pPr>
            <a:r>
              <a:rPr sz="1700" b="0" i="0">
                <a:solidFill>
                  <a:srgbClr val="334155"/>
                </a:solidFill>
                <a:latin typeface="Calibri"/>
              </a:rPr>
              <a:t>Audio Understanding par Intelligence Artificielle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566160"/>
            <a:ext cx="393192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0" bIns="0"/>
          <a:lstStyle/>
          <a:p>
            <a:pPr algn="ctr"/>
            <a:r>
              <a:rPr sz="1400" b="1" i="0">
                <a:solidFill>
                  <a:srgbClr val="4338CA"/>
                </a:solidFill>
                <a:latin typeface="Consolas"/>
              </a:rPr>
              <a:t>Qwen2-Audio-7B-Instruct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94A3B8"/>
                </a:solidFill>
                <a:latin typeface="Calibri"/>
              </a:rPr>
              <a:t>Projet de Fin du Module — Architectures Modernes de Réseaux de Neurones</a:t>
            </a:r>
          </a:p>
          <a:p>
            <a:pPr>
              <a:spcBef>
                <a:spcPts val="1600"/>
              </a:spcBef>
            </a:pPr>
            <a:r>
              <a:rPr sz="1500" b="1" i="0">
                <a:solidFill>
                  <a:srgbClr val="0F172A"/>
                </a:solidFill>
                <a:latin typeface="Calibri"/>
              </a:rPr>
              <a:t>Tassnim &amp; Zineb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334155"/>
                </a:solidFill>
                <a:latin typeface="Calibri"/>
              </a:rPr>
              <a:t>Encadrant : Pr. Smail Tigani   ·   Année 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Plan de la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2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08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08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1.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Contexte &amp; objectifs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408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9855" y="1444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08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2.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Le modèle Qwen2-Audio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51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87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551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3.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API opérationnelle (FastAPI)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9855" y="2551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9855" y="2587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1879" y="2551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4.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Interface web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94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30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94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5.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Pipeline technique d'inférence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9855" y="3694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9855" y="3730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94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6.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Déploiement sur Google Colab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37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73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837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7.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Difficultés &amp; solutions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9855" y="4837176"/>
            <a:ext cx="5528919" cy="98755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9855" y="4873752"/>
            <a:ext cx="64008" cy="9144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1879" y="4837176"/>
            <a:ext cx="5263743" cy="987552"/>
          </a:xfrm>
          <a:prstGeom prst="rect">
            <a:avLst/>
          </a:prstGeom>
          <a:noFill/>
        </p:spPr>
        <p:txBody>
          <a:bodyPr wrap="square" anchor="ctr" lIns="76200" rIns="76200" tIns="50800" bIns="50800">
            <a:spAutoFit/>
          </a:bodyPr>
          <a:lstStyle/>
          <a:p>
            <a:r>
              <a:rPr sz="1500" b="1" i="0">
                <a:solidFill>
                  <a:srgbClr val="4F46E5"/>
                </a:solidFill>
                <a:latin typeface="Calibri"/>
              </a:rPr>
              <a:t>8.  </a:t>
            </a:r>
            <a:r>
              <a:rPr sz="1400" b="1" i="0">
                <a:solidFill>
                  <a:srgbClr val="0F172A"/>
                </a:solidFill>
                <a:latin typeface="Calibri"/>
              </a:rPr>
              <a:t>Pistes d'amélioration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Contexte &amp;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3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53312"/>
            <a:ext cx="5369210" cy="53400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4338CA"/>
                </a:solidFill>
                <a:latin typeface="Calibri"/>
              </a:rPr>
              <a:t>Pourquoi la compréhension audio 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Les interfaces vocales sont omniprésentes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Au-delà de la transcription : comprendre le sens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Analyse de réunions, podcasts, cours enregistrés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Accessibilité pour les personnes malentendantes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Marchés en forte croissance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146" y="1353312"/>
            <a:ext cx="568862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4338CA"/>
                </a:solidFill>
                <a:latin typeface="Calibri"/>
              </a:rPr>
              <a:t>Objectifs du projet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00146" y="1773936"/>
            <a:ext cx="5688628" cy="133502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00146" y="1810512"/>
            <a:ext cx="64008" cy="126187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2170" y="1773936"/>
            <a:ext cx="5423452" cy="1335024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API opérationnelle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3 endpoints POST opérationnels avec le modèle Qwen2-Audio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0146" y="3236976"/>
            <a:ext cx="5688628" cy="133502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0146" y="3273552"/>
            <a:ext cx="64008" cy="126187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2170" y="3236976"/>
            <a:ext cx="5423452" cy="1335024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Mise en application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Plateforme web complète d'Audio Understanding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00146" y="4700016"/>
            <a:ext cx="5688628" cy="133502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00146" y="4736592"/>
            <a:ext cx="64008" cy="126187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2170" y="4700016"/>
            <a:ext cx="5423452" cy="1335024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Rapport &amp; présentation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Documentation académique du travail réalisé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Le modèle : </a:t>
            </a:r>
            <a:r>
              <a:rPr sz="2600" b="1" i="0">
                <a:solidFill>
                  <a:srgbClr val="4F46E5"/>
                </a:solidFill>
                <a:latin typeface="Calibri"/>
              </a:rPr>
              <a:t>Qwen2-Audio-7B-Instruct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4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53312"/>
            <a:ext cx="5257351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4338CA"/>
                </a:solidFill>
                <a:latin typeface="Calibri"/>
              </a:rPr>
              <a:t>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257351" cy="495604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64008" cy="48828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737360"/>
            <a:ext cx="4992175" cy="4956048"/>
          </a:xfrm>
          <a:prstGeom prst="rect">
            <a:avLst/>
          </a:prstGeom>
          <a:noFill/>
        </p:spPr>
        <p:txBody>
          <a:bodyPr wrap="square" anchor="ctr" lIns="50800" rIns="50800" tIns="101600" bIns="101600">
            <a:spAutoFit/>
          </a:bodyPr>
          <a:lstStyle/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Audio  (16 kHz, WAV / MP3 / …)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|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v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Encodeur audio  (Whisper Large V2)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-&gt; embeddings audio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|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v  &lt;-- prompt texte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Fusion multimodale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(concaténation des tokens)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|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v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Décodeur Qwen2-7B  (7 Md params)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|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     v</a:t>
            </a:r>
          </a:p>
          <a:p>
            <a:pPr>
              <a:spcAft>
                <a:spcPts val="100"/>
              </a:spcAft>
            </a:pPr>
            <a:r>
              <a:rPr sz="1100" b="0" i="0">
                <a:solidFill>
                  <a:srgbClr val="334155"/>
                </a:solidFill>
                <a:latin typeface="Consolas"/>
              </a:rPr>
              <a:t>  Réponse textuelle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8287" y="1353312"/>
            <a:ext cx="5800487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4338CA"/>
                </a:solidFill>
                <a:latin typeface="Calibri"/>
              </a:rPr>
              <a:t>Pourquoi ce modèle ?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Open source (Apache 2.0) — aucune API payante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Multilingue : français, anglais, arabe…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Traitement natif de la forme d'onde audio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Questions-réponses libres sur le contenu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Analyse émotionnelle et tonale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88287" y="5303520"/>
            <a:ext cx="2194560" cy="310896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0" bIns="0"/>
          <a:lstStyle/>
          <a:p>
            <a:pPr algn="ctr"/>
            <a:r>
              <a:rPr sz="1100" b="1" i="0">
                <a:solidFill>
                  <a:srgbClr val="4338CA"/>
                </a:solidFill>
                <a:latin typeface="Calibri"/>
              </a:rPr>
              <a:t>7 Md paramètres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2575" y="5303520"/>
            <a:ext cx="2313432" cy="310896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0" bIns="0"/>
          <a:lstStyle/>
          <a:p>
            <a:pPr algn="ctr"/>
            <a:r>
              <a:rPr sz="1100" b="1" i="0">
                <a:solidFill>
                  <a:srgbClr val="4338CA"/>
                </a:solidFill>
                <a:latin typeface="Calibri"/>
              </a:rPr>
              <a:t>Encodeur Whisper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15735" y="5303520"/>
            <a:ext cx="2432304" cy="310896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0" bIns="0"/>
          <a:lstStyle/>
          <a:p>
            <a:pPr algn="ctr"/>
            <a:r>
              <a:rPr sz="1100" b="1" i="0">
                <a:solidFill>
                  <a:srgbClr val="4338CA"/>
                </a:solidFill>
                <a:latin typeface="Calibri"/>
              </a:rPr>
              <a:t>Instruction-tuned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157767" y="5303520"/>
            <a:ext cx="1719072" cy="310896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0" bIns="0"/>
          <a:lstStyle/>
          <a:p>
            <a:pPr algn="ctr"/>
            <a:r>
              <a:rPr sz="1100" b="1" i="0">
                <a:solidFill>
                  <a:srgbClr val="4338CA"/>
                </a:solidFill>
                <a:latin typeface="Calibri"/>
              </a:rPr>
              <a:t>HuggingFace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API opérationnelle — </a:t>
            </a:r>
            <a:r>
              <a:rPr sz="2600" b="1" i="0">
                <a:solidFill>
                  <a:srgbClr val="4F46E5"/>
                </a:solidFill>
                <a:latin typeface="Calibri"/>
              </a:rPr>
              <a:t>FastAPI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5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64008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554480"/>
            <a:ext cx="731520" cy="32918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53312"/>
            <a:ext cx="4114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4338CA"/>
                </a:solidFill>
                <a:latin typeface="Consolas"/>
              </a:rPr>
              <a:t>/api/v1/audio/transcribe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88152" y="1353312"/>
            <a:ext cx="5900623" cy="731520"/>
          </a:xfrm>
          <a:prstGeom prst="rect">
            <a:avLst/>
          </a:prstGeom>
          <a:noFill/>
        </p:spPr>
        <p:txBody>
          <a:bodyPr wrap="square" anchor="ctr" lIns="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Audio → transcription complète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67128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03704"/>
            <a:ext cx="64008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368296"/>
            <a:ext cx="731520" cy="32918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167128"/>
            <a:ext cx="4114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4338CA"/>
                </a:solidFill>
                <a:latin typeface="Consolas"/>
              </a:rPr>
              <a:t>/api/v1/audio/understand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2167128"/>
            <a:ext cx="5900623" cy="731520"/>
          </a:xfrm>
          <a:prstGeom prst="rect">
            <a:avLst/>
          </a:prstGeom>
          <a:noFill/>
        </p:spPr>
        <p:txBody>
          <a:bodyPr wrap="square" anchor="ctr" lIns="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Audio + question → réponse en langage naturel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80944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017520"/>
            <a:ext cx="64008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182112"/>
            <a:ext cx="731520" cy="32918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80944"/>
            <a:ext cx="4114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4338CA"/>
                </a:solidFill>
                <a:latin typeface="Consolas"/>
              </a:rPr>
              <a:t>/api/v1/audio/analyze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88152" y="2980944"/>
            <a:ext cx="5900623" cy="731520"/>
          </a:xfrm>
          <a:prstGeom prst="rect">
            <a:avLst/>
          </a:prstGeom>
          <a:noFill/>
        </p:spPr>
        <p:txBody>
          <a:bodyPr wrap="square" anchor="ctr" lIns="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Audio → transcription + résumé + sentiment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94760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831336"/>
            <a:ext cx="6400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9224" y="3995928"/>
            <a:ext cx="731520" cy="329184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94760"/>
            <a:ext cx="4114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4338CA"/>
                </a:solidFill>
                <a:latin typeface="Consolas"/>
              </a:rPr>
              <a:t>/api/v1/health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88152" y="3794760"/>
            <a:ext cx="5900623" cy="731520"/>
          </a:xfrm>
          <a:prstGeom prst="rect">
            <a:avLst/>
          </a:prstGeom>
          <a:noFill/>
        </p:spPr>
        <p:txBody>
          <a:bodyPr wrap="square" anchor="ctr" lIns="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État du serveur et du modèle chargé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36592"/>
            <a:ext cx="55289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Exemple — /understand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47488"/>
            <a:ext cx="5528919" cy="16459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084064"/>
            <a:ext cx="64008" cy="15727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047488"/>
            <a:ext cx="5263743" cy="1645920"/>
          </a:xfrm>
          <a:prstGeom prst="rect">
            <a:avLst/>
          </a:prstGeom>
          <a:noFill/>
        </p:spPr>
        <p:txBody>
          <a:bodyPr wrap="square" anchor="ctr" lIns="50800" rIns="50800" tIns="101600" bIns="101600">
            <a:spAutoFit/>
          </a:bodyPr>
          <a:lstStyle/>
          <a:p>
            <a:pPr>
              <a:spcAft>
                <a:spcPts val="1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curl -X POST .../audio/understand \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-F "audio=@reunion.wav" \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-F "question=Quelle langue ?"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9855" y="4736592"/>
            <a:ext cx="55289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Réponse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59855" y="5047488"/>
            <a:ext cx="5528919" cy="16459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59855" y="5084064"/>
            <a:ext cx="64008" cy="15727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1879" y="5047488"/>
            <a:ext cx="5263743" cy="1645920"/>
          </a:xfrm>
          <a:prstGeom prst="rect">
            <a:avLst/>
          </a:prstGeom>
          <a:noFill/>
        </p:spPr>
        <p:txBody>
          <a:bodyPr wrap="square" anchor="ctr" lIns="50800" rIns="50800" tIns="101600" bIns="101600">
            <a:spAutoFit/>
          </a:bodyPr>
          <a:lstStyle/>
          <a:p>
            <a:pPr>
              <a:spcAft>
                <a:spcPts val="1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{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"answer": "L'audio est en français…",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  "filename": "reunion.wav"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33415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Interface web — </a:t>
            </a:r>
            <a:r>
              <a:rPr sz="2600" b="1" i="0">
                <a:solidFill>
                  <a:srgbClr val="4F46E5"/>
                </a:solidFill>
                <a:latin typeface="Calibri"/>
              </a:rPr>
              <a:t>3 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6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3643274" cy="290779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64008" cy="2834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353312"/>
            <a:ext cx="3378098" cy="2907792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Transcrire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Import de fichier audio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Enregistrement microphone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Transcription complète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Copie en un clic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4210" y="1353312"/>
            <a:ext cx="3643274" cy="290779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4210" y="1389888"/>
            <a:ext cx="64008" cy="2834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6234" y="1353312"/>
            <a:ext cx="3378098" cy="2907792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Comprendre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Audio + question libre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Réponse contextuelle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Langage naturel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Questions-réponses ouvertes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5500" y="1353312"/>
            <a:ext cx="3643274" cy="290779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5500" y="1389888"/>
            <a:ext cx="64008" cy="28346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7524" y="1353312"/>
            <a:ext cx="3378098" cy="2907792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Analyser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Transcription intégrale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Résumé automatique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Détection du sentiment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Rapport complet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89120"/>
            <a:ext cx="11185855" cy="230428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425696"/>
            <a:ext cx="64008" cy="22311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389120"/>
            <a:ext cx="10920679" cy="2304288"/>
          </a:xfrm>
          <a:prstGeom prst="rect">
            <a:avLst/>
          </a:prstGeom>
          <a:noFill/>
        </p:spPr>
        <p:txBody>
          <a:bodyPr wrap="square" anchor="ctr" lIns="76200" rIns="76200" tIns="76200" bIns="7620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Technologies front-end</a:t>
            </a:r>
          </a:p>
          <a:p>
            <a:r>
              <a:rPr sz="1200" b="0" i="0">
                <a:solidFill>
                  <a:srgbClr val="334155"/>
                </a:solidFill>
                <a:latin typeface="Calibri"/>
              </a:rPr>
              <a:t>HTML5 / CSS3 / JavaScript vanilla — MediaRecorder API, Fetch API, glisser-déposer. Interface en français servie directement par le backend FastAPI (même origine).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Pipeline technique d'inférence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7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11185855" cy="65314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64008" cy="57999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353312"/>
            <a:ext cx="2286000" cy="653142"/>
          </a:xfrm>
          <a:prstGeom prst="rect">
            <a:avLst/>
          </a:prstGeom>
          <a:noFill/>
        </p:spPr>
        <p:txBody>
          <a:bodyPr wrap="square" anchor="ctr" lIns="0" rIns="5080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1. Réception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2384" y="1451283"/>
            <a:ext cx="127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8688" y="1353312"/>
            <a:ext cx="8470087" cy="653142"/>
          </a:xfrm>
          <a:prstGeom prst="rect">
            <a:avLst/>
          </a:prstGeom>
          <a:noFill/>
        </p:spPr>
        <p:txBody>
          <a:bodyPr wrap="square" anchor="ctr" lIns="7620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Requête HTTP POST multipart/form-data — validation : format, taille ≤ 50 Mo, contenu non vide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34470"/>
            <a:ext cx="11185855" cy="65314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71046"/>
            <a:ext cx="64008" cy="57999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34470"/>
            <a:ext cx="2286000" cy="653142"/>
          </a:xfrm>
          <a:prstGeom prst="rect">
            <a:avLst/>
          </a:prstGeom>
          <a:noFill/>
        </p:spPr>
        <p:txBody>
          <a:bodyPr wrap="square" anchor="ctr" lIns="0" rIns="5080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2. Décodage audio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72384" y="2232442"/>
            <a:ext cx="127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2134470"/>
            <a:ext cx="8470087" cy="653142"/>
          </a:xfrm>
          <a:prstGeom prst="rect">
            <a:avLst/>
          </a:prstGeom>
          <a:noFill/>
        </p:spPr>
        <p:txBody>
          <a:bodyPr wrap="square" anchor="ctr" lIns="7620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soundfile → WAV/FLAC/OGG ; librosa + ffmpeg → MP3/M4A/WebM-Opus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15629"/>
            <a:ext cx="11185855" cy="65314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952205"/>
            <a:ext cx="64008" cy="57999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915629"/>
            <a:ext cx="2286000" cy="653142"/>
          </a:xfrm>
          <a:prstGeom prst="rect">
            <a:avLst/>
          </a:prstGeom>
          <a:noFill/>
        </p:spPr>
        <p:txBody>
          <a:bodyPr wrap="square" anchor="ctr" lIns="0" rIns="5080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3. Rééchantillonnage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2384" y="3013601"/>
            <a:ext cx="127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8688" y="2915629"/>
            <a:ext cx="8470087" cy="653142"/>
          </a:xfrm>
          <a:prstGeom prst="rect">
            <a:avLst/>
          </a:prstGeom>
          <a:noFill/>
        </p:spPr>
        <p:txBody>
          <a:bodyPr wrap="square" anchor="ctr" lIns="7620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Conversion en 16 000 Hz, mono, float32 (fréquence attendue par l'encodeur)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96788"/>
            <a:ext cx="11185855" cy="65314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33364"/>
            <a:ext cx="64008" cy="57999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696788"/>
            <a:ext cx="2286000" cy="653142"/>
          </a:xfrm>
          <a:prstGeom prst="rect">
            <a:avLst/>
          </a:prstGeom>
          <a:noFill/>
        </p:spPr>
        <p:txBody>
          <a:bodyPr wrap="square" anchor="ctr" lIns="0" rIns="5080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4. Chat template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72384" y="3794759"/>
            <a:ext cx="127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8688" y="3696788"/>
            <a:ext cx="8470087" cy="653142"/>
          </a:xfrm>
          <a:prstGeom prst="rect">
            <a:avLst/>
          </a:prstGeom>
          <a:noFill/>
        </p:spPr>
        <p:txBody>
          <a:bodyPr wrap="square" anchor="ctr" lIns="7620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Construction de la conversation Qwen2-Audio (tokens audio + tokens texte)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477947"/>
            <a:ext cx="11185855" cy="65314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514523"/>
            <a:ext cx="64008" cy="57999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477947"/>
            <a:ext cx="2286000" cy="653142"/>
          </a:xfrm>
          <a:prstGeom prst="rect">
            <a:avLst/>
          </a:prstGeom>
          <a:noFill/>
        </p:spPr>
        <p:txBody>
          <a:bodyPr wrap="square" anchor="ctr" lIns="0" rIns="5080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5. AutoProcessor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72384" y="4575918"/>
            <a:ext cx="127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18688" y="4477947"/>
            <a:ext cx="8470087" cy="653142"/>
          </a:xfrm>
          <a:prstGeom prst="rect">
            <a:avLst/>
          </a:prstGeom>
          <a:noFill/>
        </p:spPr>
        <p:txBody>
          <a:bodyPr wrap="square" anchor="ctr" lIns="7620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Texte → tokens ; audio → input_features → tenseurs PyTorch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9106"/>
            <a:ext cx="11185855" cy="65314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295682"/>
            <a:ext cx="64008" cy="57999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5259106"/>
            <a:ext cx="2286000" cy="653142"/>
          </a:xfrm>
          <a:prstGeom prst="rect">
            <a:avLst/>
          </a:prstGeom>
          <a:noFill/>
        </p:spPr>
        <p:txBody>
          <a:bodyPr wrap="square" anchor="ctr" lIns="0" rIns="5080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6. Inférence GPU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72384" y="5357077"/>
            <a:ext cx="127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18688" y="5259106"/>
            <a:ext cx="8470087" cy="653142"/>
          </a:xfrm>
          <a:prstGeom prst="rect">
            <a:avLst/>
          </a:prstGeom>
          <a:noFill/>
        </p:spPr>
        <p:txBody>
          <a:bodyPr wrap="square" anchor="ctr" lIns="7620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model.generate() → décodage autorégressif des tokens → réponse textuelle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6040265"/>
            <a:ext cx="11185855" cy="65314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6076841"/>
            <a:ext cx="64008" cy="57999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6040265"/>
            <a:ext cx="2286000" cy="653142"/>
          </a:xfrm>
          <a:prstGeom prst="rect">
            <a:avLst/>
          </a:prstGeom>
          <a:noFill/>
        </p:spPr>
        <p:txBody>
          <a:bodyPr wrap="square" anchor="ctr" lIns="0" rIns="50800" tIns="0" bIns="0">
            <a:spAutoFit/>
          </a:bodyPr>
          <a:lstStyle/>
          <a:p>
            <a:r>
              <a:rPr sz="1300" b="1" i="0">
                <a:solidFill>
                  <a:srgbClr val="4338CA"/>
                </a:solidFill>
                <a:latin typeface="Calibri"/>
              </a:rPr>
              <a:t>7. Sérialisation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72384" y="6138236"/>
            <a:ext cx="127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18688" y="6040265"/>
            <a:ext cx="8470087" cy="653142"/>
          </a:xfrm>
          <a:prstGeom prst="rect">
            <a:avLst/>
          </a:prstGeom>
          <a:noFill/>
        </p:spPr>
        <p:txBody>
          <a:bodyPr wrap="square" anchor="ctr" lIns="76200" rIns="76200" tIns="0" bIns="0">
            <a:spAutoFit/>
          </a:bodyPr>
          <a:lstStyle/>
          <a:p>
            <a:r>
              <a:rPr sz="1200" b="0" i="0">
                <a:solidFill>
                  <a:srgbClr val="334155"/>
                </a:solidFill>
                <a:latin typeface="Calibri"/>
              </a:rPr>
              <a:t>Réponse JSON → HTTP 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Déploiement sur </a:t>
            </a:r>
            <a:r>
              <a:rPr sz="2600" b="1" i="0">
                <a:solidFill>
                  <a:srgbClr val="4F46E5"/>
                </a:solidFill>
                <a:latin typeface="Calibri"/>
              </a:rPr>
              <a:t>Google Colab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8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53312"/>
            <a:ext cx="5425139" cy="53400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4338CA"/>
                </a:solidFill>
                <a:latin typeface="Calibri"/>
              </a:rPr>
              <a:t>Mise en service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GPU NVIDIA A100 — modèle float16 complet (~16 Go)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Clonage du dépôt GitHub dans l'environnement Colab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Serveur uvicorn lancé sur le port 8000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Tunnel public cloudflared → URL trycloudflare.com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4F46E5"/>
                </a:solidFill>
                <a:latin typeface="Calibri"/>
              </a:rPr>
              <a:t>·  </a:t>
            </a:r>
            <a:r>
              <a:rPr sz="1300" b="0" i="0">
                <a:solidFill>
                  <a:srgbClr val="334155"/>
                </a:solidFill>
                <a:latin typeface="Calibri"/>
              </a:rPr>
              <a:t>UI et API servies sur la même origine : une seule 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6075" y="1353312"/>
            <a:ext cx="563269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4338CA"/>
                </a:solidFill>
                <a:latin typeface="Calibri"/>
              </a:rPr>
              <a:t>Flux de déploiement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6075" y="1755648"/>
            <a:ext cx="5632699" cy="20116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56075" y="1792224"/>
            <a:ext cx="64008" cy="19385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8099" y="1755648"/>
            <a:ext cx="5367523" cy="2011680"/>
          </a:xfrm>
          <a:prstGeom prst="rect">
            <a:avLst/>
          </a:prstGeom>
          <a:noFill/>
        </p:spPr>
        <p:txBody>
          <a:bodyPr wrap="square" anchor="ctr" lIns="50800" rIns="50800" tIns="101600" bIns="101600">
            <a:spAutoFit/>
          </a:bodyPr>
          <a:lstStyle/>
          <a:p>
            <a:pPr>
              <a:spcAft>
                <a:spcPts val="1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GPU Colab A100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|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uvicorn : 8000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|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cloudflared (tunnel)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    |</a:t>
            </a:r>
          </a:p>
          <a:p>
            <a:pPr>
              <a:spcAft>
                <a:spcPts val="100"/>
              </a:spcAft>
            </a:pPr>
            <a:r>
              <a:rPr sz="1200" b="0" i="0">
                <a:solidFill>
                  <a:srgbClr val="334155"/>
                </a:solidFill>
                <a:latin typeface="Consolas"/>
              </a:rPr>
              <a:t>  URL publique → navigateur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6075" y="3895344"/>
            <a:ext cx="5632699" cy="279806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56075" y="3931920"/>
            <a:ext cx="64008" cy="2724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8099" y="3895344"/>
            <a:ext cx="5367523" cy="2798064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Quantification optionnelle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4 ou 8 bits via bitsandbytes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Variables : LOAD_IN_4BIT / LOAD_IN_8BIT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Pour les GPU &lt; 16 Go (ex. Colab T4)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Difficultés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9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11185855" cy="169468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64008" cy="1621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353312"/>
            <a:ext cx="10920679" cy="1694688"/>
          </a:xfrm>
          <a:prstGeom prst="rect">
            <a:avLst/>
          </a:prstGeom>
          <a:noFill/>
        </p:spPr>
        <p:txBody>
          <a:bodyPr wrap="square" anchor="t" lIns="50800" rIns="76200" tIns="152400" bIns="101600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Formats audio hétérogènes</a:t>
            </a:r>
          </a:p>
          <a:p>
            <a:r>
              <a:rPr sz="1200" b="0" i="0">
                <a:solidFill>
                  <a:srgbClr val="334155"/>
                </a:solidFill>
                <a:latin typeface="Calibri"/>
              </a:rPr>
              <a:t>Les navigateurs enregistrent en WebM/Opus, non géré par soundfile. Solution : double décodeur — soundfile d'abord, puis librosa + ffmpeg en secours.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76016"/>
            <a:ext cx="11185855" cy="169468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12592"/>
            <a:ext cx="64008" cy="1621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176016"/>
            <a:ext cx="10920679" cy="1694688"/>
          </a:xfrm>
          <a:prstGeom prst="rect">
            <a:avLst/>
          </a:prstGeom>
          <a:noFill/>
        </p:spPr>
        <p:txBody>
          <a:bodyPr wrap="square" anchor="t" lIns="50800" rIns="76200" tIns="152400" bIns="101600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Audio non transmis au modèle</a:t>
            </a:r>
          </a:p>
          <a:p>
            <a:r>
              <a:rPr sz="1200" b="0" i="0">
                <a:solidFill>
                  <a:srgbClr val="334155"/>
                </a:solidFill>
                <a:latin typeface="Calibri"/>
              </a:rPr>
              <a:t>Le modèle répondait « je ne peux pas accéder à l'audio » sans erreur visible. Cause : l'argument du processeur a été renommé selon la version de transformers (audios → audio) et était silencieusement ignoré. Solution : essayer les deux noms, vérifier input_features (erreur explicite sinon) et aligner le dtype audio en float16.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98720"/>
            <a:ext cx="11185855" cy="169468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5035296"/>
            <a:ext cx="64008" cy="162153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4998720"/>
            <a:ext cx="10920679" cy="1694688"/>
          </a:xfrm>
          <a:prstGeom prst="rect">
            <a:avLst/>
          </a:prstGeom>
          <a:noFill/>
        </p:spPr>
        <p:txBody>
          <a:bodyPr wrap="square" anchor="t" lIns="50800" rIns="76200" tIns="152400" bIns="101600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Ressources mémoire (~16 Go VRAM)</a:t>
            </a:r>
          </a:p>
          <a:p>
            <a:r>
              <a:rPr sz="1200" b="0" i="0">
                <a:solidFill>
                  <a:srgbClr val="334155"/>
                </a:solidFill>
                <a:latin typeface="Calibri"/>
              </a:rPr>
              <a:t>Le modèle 7B en float16 exige un GPU conséquent. Solution : GPU Colab A100 + quantification 4/8 bits pour les GPU plus modestes.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972281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4338CA"/>
                </a:solidFill>
                <a:latin typeface="Calibri"/>
              </a:rPr>
              <a:t>Pistes d'amélioration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615" y="329184"/>
            <a:ext cx="1280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94A3B8"/>
                </a:solidFill>
                <a:latin typeface="Consolas"/>
              </a:rPr>
              <a:t>10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11185855" cy="317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5528919" cy="17373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64008" cy="16642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353312"/>
            <a:ext cx="5263743" cy="1737360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Streaming des réponses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Server-Sent Events : afficher les tokens au fur et à mesure.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353312"/>
            <a:ext cx="5528919" cy="17373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9855" y="1389888"/>
            <a:ext cx="64008" cy="16642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353312"/>
            <a:ext cx="5263743" cy="1737360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Conversation multi-tours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Conserver l'historique des échanges sur un même audio.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18688"/>
            <a:ext cx="5528919" cy="17373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255264"/>
            <a:ext cx="64008" cy="16642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218688"/>
            <a:ext cx="5263743" cy="1737360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Détection de langue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Identifier la langue et adapter la réponse automatiquement.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9855" y="3218688"/>
            <a:ext cx="5528919" cy="17373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9855" y="3255264"/>
            <a:ext cx="64008" cy="16642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1879" y="3218688"/>
            <a:ext cx="5263743" cy="1737360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Traitement des audios longs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Découpage (chunking) pour réunions et conférences.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84064"/>
            <a:ext cx="5528919" cy="17373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120640"/>
            <a:ext cx="64008" cy="16642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5084064"/>
            <a:ext cx="5263743" cy="1737360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Quantification avancée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GPTQ / AWQ au-delà du 4/8 bits déjà pris en charge.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9855" y="5084064"/>
            <a:ext cx="5528919" cy="17373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9855" y="5120640"/>
            <a:ext cx="64008" cy="16642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5084064"/>
            <a:ext cx="5263743" cy="1737360"/>
          </a:xfrm>
          <a:prstGeom prst="rect">
            <a:avLst/>
          </a:prstGeom>
          <a:noFill/>
        </p:spPr>
        <p:txBody>
          <a:bodyPr wrap="square" anchor="ctr" lIns="50800" rIns="50800" tIns="76200" bIns="7620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F172A"/>
                </a:solidFill>
                <a:latin typeface="Calibri"/>
              </a:rPr>
              <a:t>Évaluation formelle (WER)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334155"/>
                </a:solidFill>
                <a:latin typeface="Calibri"/>
              </a:rPr>
              <a:t>· Mesurer le Word Error Rate sur un corpus francophone.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0F172A"/>
                </a:solidFill>
                <a:latin typeface="Calibri"/>
              </a:rPr>
              <a:t>Merci de votre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74519"/>
            <a:ext cx="10332720" cy="82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11095"/>
            <a:ext cx="64008" cy="7498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874519"/>
            <a:ext cx="10067544" cy="822960"/>
          </a:xfrm>
          <a:prstGeom prst="rect">
            <a:avLst/>
          </a:prstGeom>
          <a:noFill/>
        </p:spPr>
        <p:txBody>
          <a:bodyPr wrap="square" anchor="ctr" lIns="50800" rIns="50800" tIns="0" bIns="0">
            <a:spAutoFit/>
          </a:bodyPr>
          <a:lstStyle/>
          <a:p>
            <a:r>
              <a:rPr sz="1400" b="0" i="0">
                <a:solidFill>
                  <a:srgbClr val="334155"/>
                </a:solidFill>
                <a:latin typeface="Calibri"/>
              </a:rPr>
              <a:t>3 endpoints POST opérationnels — /transcribe · /understand · /analyze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25496"/>
            <a:ext cx="10332720" cy="82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862072"/>
            <a:ext cx="64008" cy="7498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2825496"/>
            <a:ext cx="10067544" cy="822960"/>
          </a:xfrm>
          <a:prstGeom prst="rect">
            <a:avLst/>
          </a:prstGeom>
          <a:noFill/>
        </p:spPr>
        <p:txBody>
          <a:bodyPr wrap="square" anchor="ctr" lIns="50800" rIns="50800" tIns="0" bIns="0">
            <a:spAutoFit/>
          </a:bodyPr>
          <a:lstStyle/>
          <a:p>
            <a:r>
              <a:rPr sz="1400" b="0" i="0">
                <a:solidFill>
                  <a:srgbClr val="334155"/>
                </a:solidFill>
                <a:latin typeface="Calibri"/>
              </a:rPr>
              <a:t>Interface web claire : import fichier, enregistrement micro et 3 onglets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776472"/>
            <a:ext cx="10332720" cy="82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813048"/>
            <a:ext cx="64008" cy="7498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776472"/>
            <a:ext cx="10067544" cy="822960"/>
          </a:xfrm>
          <a:prstGeom prst="rect">
            <a:avLst/>
          </a:prstGeom>
          <a:noFill/>
        </p:spPr>
        <p:txBody>
          <a:bodyPr wrap="square" anchor="ctr" lIns="50800" rIns="50800" tIns="0" bIns="0">
            <a:spAutoFit/>
          </a:bodyPr>
          <a:lstStyle/>
          <a:p>
            <a:r>
              <a:rPr sz="1400" b="0" i="0">
                <a:solidFill>
                  <a:srgbClr val="334155"/>
                </a:solidFill>
                <a:latin typeface="Calibri"/>
              </a:rPr>
              <a:t>Déployé sur GPU Colab A100 — modèle open source, aucune API payante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0F172A"/>
                </a:solidFill>
                <a:latin typeface="Calibri"/>
              </a:rPr>
              <a:t>Tassnim &amp; Zineb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94A3B8"/>
                </a:solidFill>
                <a:latin typeface="Calibri"/>
              </a:rPr>
              <a:t>Pr. Smail Tigani · Université Euromed de Fès · EIDIA · 2025/2026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