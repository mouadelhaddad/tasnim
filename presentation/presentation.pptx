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94A3B8"/>
                </a:solidFill>
                <a:latin typeface="Arial"/>
              </a:rPr>
              <a:t>Université Euromed de Fès  ·  EIDIA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1" i="0">
                <a:solidFill>
                  <a:srgbClr val="0F172A"/>
                </a:solidFill>
                <a:latin typeface="Arial"/>
              </a:rPr>
              <a:t>Compréhension </a:t>
            </a:r>
            <a:r>
              <a:rPr sz="4600" b="1" i="0">
                <a:solidFill>
                  <a:srgbClr val="4F46E5"/>
                </a:solidFill>
                <a:latin typeface="Arial"/>
              </a:rPr>
              <a:t>Audio</a:t>
            </a:r>
          </a:p>
          <a:p>
            <a:pPr>
              <a:spcBef>
                <a:spcPts val="600"/>
              </a:spcBef>
            </a:pPr>
            <a:r>
              <a:rPr sz="1800" b="0" i="0">
                <a:solidFill>
                  <a:srgbClr val="334155"/>
                </a:solidFill>
                <a:latin typeface="Arial"/>
              </a:rPr>
              <a:t>Audio Understanding par Intelligence Artificielle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023360"/>
            <a:ext cx="3749039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4338CA"/>
                </a:solidFill>
                <a:latin typeface="Consolas"/>
              </a:rPr>
              <a:t>Qwen2-Audio-7B-Instruct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292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94A3B8"/>
                </a:solidFill>
                <a:latin typeface="Arial"/>
              </a:rPr>
              <a:t>Projet de Fin du Module — Architectures Modernes de Réseaux de Neurones</a:t>
            </a:r>
          </a:p>
          <a:p>
            <a:pPr>
              <a:spcBef>
                <a:spcPts val="1000"/>
              </a:spcBef>
            </a:pPr>
            <a:r>
              <a:rPr sz="1500" b="1" i="0">
                <a:solidFill>
                  <a:srgbClr val="0F172A"/>
                </a:solidFill>
                <a:latin typeface="Arial"/>
              </a:rPr>
              <a:t>Tassnim &amp; Zineb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4155"/>
                </a:solidFill>
                <a:latin typeface="Arial"/>
              </a:rPr>
              <a:t>Encadrant : Pr. Smail Tigani   ·   Année : 2025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4338CA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50292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onsolas"/>
              </a:rPr>
              <a:t>2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908792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64008" cy="8686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5544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4F46E5"/>
                </a:solidFill>
                <a:latin typeface="Arial"/>
              </a:rPr>
              <a:t>1. 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Contexte &amp; objectifs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55448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64008" cy="8686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5544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4F46E5"/>
                </a:solidFill>
                <a:latin typeface="Arial"/>
              </a:rPr>
              <a:t>2. 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Le modèle Qwen2-Audio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24328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6243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2624328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4F46E5"/>
                </a:solidFill>
                <a:latin typeface="Arial"/>
              </a:rPr>
              <a:t>3. 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API opérationnelle (FastAPI)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2624328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53912" y="26243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624328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4F46E5"/>
                </a:solidFill>
                <a:latin typeface="Arial"/>
              </a:rPr>
              <a:t>4. 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Interface web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694176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694176"/>
            <a:ext cx="64008" cy="8686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3694176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4F46E5"/>
                </a:solidFill>
                <a:latin typeface="Arial"/>
              </a:rPr>
              <a:t>5. 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Pipeline technique d'inférence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3694176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53912" y="3694176"/>
            <a:ext cx="64008" cy="8686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94176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4F46E5"/>
                </a:solidFill>
                <a:latin typeface="Arial"/>
              </a:rPr>
              <a:t>6. 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Déploiement sur Google Colab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764024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764024"/>
            <a:ext cx="64008" cy="8686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19" y="4764024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4F46E5"/>
                </a:solidFill>
                <a:latin typeface="Arial"/>
              </a:rPr>
              <a:t>7. 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Difficultés &amp; solutions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3912" y="4764024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53912" y="4764024"/>
            <a:ext cx="64008" cy="8686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764024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4F46E5"/>
                </a:solidFill>
                <a:latin typeface="Arial"/>
              </a:rPr>
              <a:t>8. 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Pistes d'amélioration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4338CA"/>
                </a:solidFill>
                <a:latin typeface="Arial"/>
              </a:rPr>
              <a:t>Contexte &amp; 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50292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onsolas"/>
              </a:rPr>
              <a:t>3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908792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394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4338CA"/>
                </a:solidFill>
                <a:latin typeface="Arial"/>
              </a:rPr>
              <a:t>Pourquoi la compréhension audio ?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Les interfaces vocales sont omniprésentes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Au-delà de la transcription : comprendre le sens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Analyse de réunions, podcasts, cours enregistrés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Accessibilité pour les personnes malentendantes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Marchés en forte croissance (assistants, centres d'appels, éducation)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4338CA"/>
                </a:solidFill>
                <a:latin typeface="Arial"/>
              </a:rPr>
              <a:t>Objectifs du projet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057400"/>
            <a:ext cx="5166360" cy="12344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5080" y="205740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224028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API opérationnelle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Points de terminaison POST fonctionnels avec le modèle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3429000"/>
            <a:ext cx="5166360" cy="12344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342900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361188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Mise en application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Plateforme web complète d'Audio Understanding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800600"/>
            <a:ext cx="5166360" cy="12344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480060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498348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Rapport &amp; présentation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Documentation académique du travail réalisé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4338CA"/>
                </a:solidFill>
                <a:latin typeface="Arial"/>
              </a:rPr>
              <a:t>Le modèle : </a:t>
            </a:r>
            <a:r>
              <a:rPr sz="2800" b="1" i="0">
                <a:solidFill>
                  <a:srgbClr val="4F46E5"/>
                </a:solidFill>
                <a:latin typeface="Arial"/>
              </a:rPr>
              <a:t>Qwen2-Audio-7B-Instruct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50292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onsolas"/>
              </a:rPr>
              <a:t>4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908792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4338CA"/>
                </a:solidFill>
                <a:latin typeface="Arial"/>
              </a:rPr>
              <a:t>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64008" cy="42062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21408"/>
            <a:ext cx="4937760" cy="3840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Audio  (16 kHz, WAV / MP3 / …)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  |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  v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Encodeur audio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Whisper Large V2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-&gt; embeddings audio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  |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  v   &lt;-- prompt texte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Fusion multimodale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(concaténation des tokens)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  |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  v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Décodeur Qwen2-7B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(7 milliards de paramètres)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génération autorégressive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  |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  v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Réponse textuelle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463040"/>
            <a:ext cx="52120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4338CA"/>
                </a:solidFill>
                <a:latin typeface="Arial"/>
              </a:rPr>
              <a:t>Pourquoi ce modèle ?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Open source (Apache 2.0) — aucune API payante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Multilingue : français, anglais, arabe…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Traitement natif de la forme d'onde audio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Questions-réponses libres sur le contenu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Analyse émotionnelle et tonale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5212080"/>
            <a:ext cx="2148840" cy="310896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4338CA"/>
                </a:solidFill>
                <a:latin typeface="Arial"/>
              </a:rPr>
              <a:t>7 Md paramètres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3648" y="5212080"/>
            <a:ext cx="2267712" cy="310896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4338CA"/>
                </a:solidFill>
                <a:latin typeface="Arial"/>
              </a:rPr>
              <a:t>Encodeur Whisper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91088" y="5212080"/>
            <a:ext cx="2386584" cy="310896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4338CA"/>
                </a:solidFill>
                <a:latin typeface="Arial"/>
              </a:rPr>
              <a:t>Instruction-tuned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487400" y="5212080"/>
            <a:ext cx="1673352" cy="310896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4338CA"/>
                </a:solidFill>
                <a:latin typeface="Arial"/>
              </a:rPr>
              <a:t>HuggingFace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4338CA"/>
                </a:solidFill>
                <a:latin typeface="Arial"/>
              </a:rPr>
              <a:t>API opérationnelle — </a:t>
            </a:r>
            <a:r>
              <a:rPr sz="2800" b="1" i="0">
                <a:solidFill>
                  <a:srgbClr val="4F46E5"/>
                </a:solidFill>
                <a:latin typeface="Arial"/>
              </a:rPr>
              <a:t>FastAPI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50292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onsolas"/>
              </a:rPr>
              <a:t>5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908792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08792" cy="71323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64008" cy="7132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737360"/>
            <a:ext cx="868680" cy="347472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554480"/>
            <a:ext cx="3931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onsolas"/>
              </a:rPr>
              <a:t>/api/v1/audio/transcribe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554480"/>
            <a:ext cx="53035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Arial"/>
              </a:rPr>
              <a:t>Audio → transcription complète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395728"/>
            <a:ext cx="10908792" cy="71323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395728"/>
            <a:ext cx="64008" cy="7132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2578608"/>
            <a:ext cx="868680" cy="347472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395728"/>
            <a:ext cx="3931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onsolas"/>
              </a:rPr>
              <a:t>/api/v1/audio/understand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395728"/>
            <a:ext cx="53035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Arial"/>
              </a:rPr>
              <a:t>Audio + question → réponse en langage naturel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36976"/>
            <a:ext cx="10908792" cy="71323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236976"/>
            <a:ext cx="64008" cy="7132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3419856"/>
            <a:ext cx="868680" cy="347472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236976"/>
            <a:ext cx="3931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onsolas"/>
              </a:rPr>
              <a:t>/api/v1/audio/analyze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36976"/>
            <a:ext cx="53035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Arial"/>
              </a:rPr>
              <a:t>Audio → transcription + résumé + sentiment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078224"/>
            <a:ext cx="10908792" cy="71323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078224"/>
            <a:ext cx="64008" cy="7132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4261104"/>
            <a:ext cx="868680" cy="347472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078224"/>
            <a:ext cx="39319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onsolas"/>
              </a:rPr>
              <a:t>/api/v1/health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078224"/>
            <a:ext cx="53035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Arial"/>
              </a:rPr>
              <a:t>État du serveur et du modèle chargé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0109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Arial"/>
              </a:rPr>
              <a:t>Exemple — /understand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376672"/>
            <a:ext cx="5394960" cy="10972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376672"/>
            <a:ext cx="64008" cy="10972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577840"/>
            <a:ext cx="49377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curl -X POST .../audio/understand \</a:t>
            </a:r>
          </a:p>
          <a:p>
            <a:pPr>
              <a:spcAft>
                <a:spcPts val="2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  -F "audio=@reunion.wav" \</a:t>
            </a:r>
          </a:p>
          <a:p>
            <a:pPr>
              <a:spcAft>
                <a:spcPts val="2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  -F "question=Quelle langue ?"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0109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Arial"/>
              </a:rPr>
              <a:t>Réponse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5376672"/>
            <a:ext cx="5212080" cy="10972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55080" y="5376672"/>
            <a:ext cx="64008" cy="10972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577840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  "answer": "L'audio est en français…",</a:t>
            </a:r>
          </a:p>
          <a:p>
            <a:pPr>
              <a:spcAft>
                <a:spcPts val="2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  "filename": "reunion.wav"</a:t>
            </a:r>
          </a:p>
          <a:p>
            <a:pPr>
              <a:spcAft>
                <a:spcPts val="2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4338CA"/>
                </a:solidFill>
                <a:latin typeface="Arial"/>
              </a:rPr>
              <a:t>Interface web — </a:t>
            </a:r>
            <a:r>
              <a:rPr sz="2800" b="1" i="0">
                <a:solidFill>
                  <a:srgbClr val="4F46E5"/>
                </a:solidFill>
                <a:latin typeface="Arial"/>
              </a:rPr>
              <a:t>3 fonctionnalités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50292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onsolas"/>
              </a:rPr>
              <a:t>6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908792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493008" cy="2743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64008" cy="2743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28800"/>
            <a:ext cx="3081527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Transcrire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Import de fichier audio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Enregistrement micro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Transcription complète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Copie en un clic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493008" cy="2743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64008" cy="2743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828800"/>
            <a:ext cx="3081527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Comprendre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Audio + question libre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Réponse contextuelle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Tout en langage naturel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Questions-réponses ouvertes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45920"/>
            <a:ext cx="3493008" cy="2743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1645920"/>
            <a:ext cx="64008" cy="2743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1" y="1828800"/>
            <a:ext cx="3081527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Analyser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Transcription intégrale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Résumé automatique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Détection du sentiment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Rapport complet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66344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663440"/>
            <a:ext cx="64008" cy="1371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F172A"/>
                </a:solidFill>
                <a:latin typeface="Arial"/>
              </a:rPr>
              <a:t>Technologies front-end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334155"/>
                </a:solidFill>
                <a:latin typeface="Arial"/>
              </a:rPr>
              <a:t>Application monopage (SPA) en HTML5 / CSS3 / JavaScript vanilla — API MediaRecorder, Fetch, glisser-déposer. Interface claire et épurée, servie directement par le backend.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4338CA"/>
                </a:solidFill>
                <a:latin typeface="Arial"/>
              </a:rPr>
              <a:t>Pipeline technique d'inférence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50292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onsolas"/>
              </a:rPr>
              <a:t>7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908792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08792" cy="62179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64008" cy="62179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23774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Arial"/>
              </a:rPr>
              <a:t>1. Réception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508760"/>
            <a:ext cx="7955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Arial"/>
              </a:rPr>
              <a:t>Requête HTTP POST (multipart/form-data) — validation : format, taille ≤ 50 Mo, contenu non vide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21991"/>
            <a:ext cx="10908792" cy="62179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221991"/>
            <a:ext cx="64008" cy="62179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21991"/>
            <a:ext cx="23774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Arial"/>
              </a:rPr>
              <a:t>2. Décodage audio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221991"/>
            <a:ext cx="7955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Arial"/>
              </a:rPr>
              <a:t>soundfile → WAV/FLAC/OGG ; librosa + ffmpeg → MP3/M4A/WebM-Opus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35224"/>
            <a:ext cx="10908792" cy="62179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935224"/>
            <a:ext cx="64008" cy="62179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35224"/>
            <a:ext cx="23774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Arial"/>
              </a:rPr>
              <a:t>3. Rééchantillonnage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935224"/>
            <a:ext cx="7955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Arial"/>
              </a:rPr>
              <a:t>Conversion en 16 000 Hz, mono, float32 (fréquence attendue par l'encodeur)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648456"/>
            <a:ext cx="10908792" cy="62179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648456"/>
            <a:ext cx="64008" cy="62179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648456"/>
            <a:ext cx="23774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Arial"/>
              </a:rPr>
              <a:t>4. Chat template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648456"/>
            <a:ext cx="7955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Arial"/>
              </a:rPr>
              <a:t>Construction de la conversation Qwen2-Audio (tokens audio + tokens texte)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61688"/>
            <a:ext cx="10908792" cy="62179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361688"/>
            <a:ext cx="64008" cy="62179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361688"/>
            <a:ext cx="23774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Arial"/>
              </a:rPr>
              <a:t>5. AutoProcessor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4361688"/>
            <a:ext cx="7955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Arial"/>
              </a:rPr>
              <a:t>Texte → tokens ; audio → caractéristiques (input_features) → tenseurs PyTorch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908792" cy="62179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074920"/>
            <a:ext cx="64008" cy="62179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074920"/>
            <a:ext cx="23774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Arial"/>
              </a:rPr>
              <a:t>6. Inférence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5074920"/>
            <a:ext cx="7955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Arial"/>
              </a:rPr>
              <a:t>model.generate() → décodage des tokens → réponse textuelle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788152"/>
            <a:ext cx="10908792" cy="62179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788152"/>
            <a:ext cx="64008" cy="62179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788152"/>
            <a:ext cx="23774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Arial"/>
              </a:rPr>
              <a:t>7. Sérialisation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788152"/>
            <a:ext cx="79552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Arial"/>
              </a:rPr>
              <a:t>Réponse JSON → HTTP 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4338CA"/>
                </a:solidFill>
                <a:latin typeface="Arial"/>
              </a:rPr>
              <a:t>Déploiement sur </a:t>
            </a:r>
            <a:r>
              <a:rPr sz="2800" b="1" i="0">
                <a:solidFill>
                  <a:srgbClr val="4F46E5"/>
                </a:solidFill>
                <a:latin typeface="Arial"/>
              </a:rPr>
              <a:t>Google Colab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50292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onsolas"/>
              </a:rPr>
              <a:t>8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908792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4338CA"/>
                </a:solidFill>
                <a:latin typeface="Arial"/>
              </a:rPr>
              <a:t>Mise en service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GPU NVIDIA A100 — modèle en float16 complet (~16 Go)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Clonage du dépôt GitHub dans l'environnement Colab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Serveur uvicorn lancé sur le port 8000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Tunnel public cloudflared → URL trycloudflare.com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•  </a:t>
            </a:r>
            <a:r>
              <a:rPr sz="1300" b="0" i="0">
                <a:solidFill>
                  <a:srgbClr val="334155"/>
                </a:solidFill>
                <a:latin typeface="Arial"/>
              </a:rPr>
              <a:t>UI et API servies sur la même origine : une seule 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4338CA"/>
                </a:solidFill>
                <a:latin typeface="Arial"/>
              </a:rPr>
              <a:t>Flux de déploiement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5120640" cy="2011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64008" cy="20116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212848"/>
            <a:ext cx="4663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GPU Colab A100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|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uvicorn : 8000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|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cloudflared (tunnel)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|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URL publique -&gt; navigateur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2976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4297680"/>
            <a:ext cx="64008" cy="173736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4480560"/>
            <a:ext cx="4709159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Quantification optionnelle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4 ou 8 bits via bitsandbytes (LOAD_IN_4BIT / 8BIT)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Permet d'exécuter le modèle sur des GPU plus modestes (ex. Colab T4 ~15 Go)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4338CA"/>
                </a:solidFill>
                <a:latin typeface="Arial"/>
              </a:rPr>
              <a:t>Difficultés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50292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onsolas"/>
              </a:rPr>
              <a:t>9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908792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08792" cy="14173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19072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Formats audio hétérogènes</a:t>
            </a:r>
          </a:p>
          <a:p>
            <a:r>
              <a:rPr sz="1200" b="0" i="0">
                <a:solidFill>
                  <a:srgbClr val="334155"/>
                </a:solidFill>
                <a:latin typeface="Arial"/>
              </a:rPr>
              <a:t>Les navigateurs enregistrent en WebM/Opus, non géré par soundfile. Solution : double décodeur — soundfile, puis librosa + ffmpeg en secours.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81528"/>
            <a:ext cx="10908792" cy="14173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Audio non transmis au modèle</a:t>
            </a:r>
          </a:p>
          <a:p>
            <a:r>
              <a:rPr sz="1200" b="0" i="0">
                <a:solidFill>
                  <a:srgbClr val="334155"/>
                </a:solidFill>
                <a:latin typeface="Arial"/>
              </a:rPr>
              <a:t>Le modèle répondait « je ne peux pas accéder à l'audio », sans erreur. Cause : l'argument du processeur a été renommé selon la version de transformers (audios → audio) et était ignoré silencieusement. Solution : essayer les deux noms, vérifier la présence de input_features (échec explicite sinon) et aligner le type (float16).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608576"/>
            <a:ext cx="10908792" cy="14173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4608576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773168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Ressources mémoire (~16 Go VRAM)</a:t>
            </a:r>
          </a:p>
          <a:p>
            <a:r>
              <a:rPr sz="1200" b="0" i="0">
                <a:solidFill>
                  <a:srgbClr val="334155"/>
                </a:solidFill>
                <a:latin typeface="Arial"/>
              </a:rPr>
              <a:t>Le modèle 7B en float16 exige un GPU conséquent. Solution : GPU Colab A100 + option de quantification 4/8 bits pour les cartes plus petites.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4338CA"/>
                </a:solidFill>
                <a:latin typeface="Arial"/>
              </a:rPr>
              <a:t>Pistes d'amélioration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50292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onsolas"/>
              </a:rPr>
              <a:t>10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07008"/>
            <a:ext cx="10908792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53949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4008" cy="13258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83080"/>
            <a:ext cx="4983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Streaming des réponses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Server-Sent Events : afficher les tokens au fur et à mesure.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600200"/>
            <a:ext cx="53949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53912" y="1600200"/>
            <a:ext cx="64008" cy="13258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1783080"/>
            <a:ext cx="4983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Conversation multi-tours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Conserver l'historique des échanges sur un même audio.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08960"/>
            <a:ext cx="53949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64008" cy="13258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291840"/>
            <a:ext cx="4983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Détection de langue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Identifier la langue du locuteur et adapter la réponse.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108960"/>
            <a:ext cx="53949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53912" y="3108960"/>
            <a:ext cx="64008" cy="13258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3291840"/>
            <a:ext cx="4983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Traitement des audios longs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Découpage (chunking) pour réunions et conférences.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53949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4617720"/>
            <a:ext cx="64008" cy="13258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800600"/>
            <a:ext cx="4983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Quantification avancée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GPTQ / AWQ au-delà du 4/8 bits déjà pris en charge.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4617720"/>
            <a:ext cx="53949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53912" y="4617720"/>
            <a:ext cx="64008" cy="13258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9944" y="4800600"/>
            <a:ext cx="4983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Évaluation formelle (WER)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334155"/>
                </a:solidFill>
                <a:latin typeface="Arial"/>
              </a:rPr>
              <a:t>Mesurer le Word Error Rate sur un corpus francophone.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i="0">
                <a:solidFill>
                  <a:srgbClr val="0F172A"/>
                </a:solidFill>
                <a:latin typeface="Arial"/>
              </a:rPr>
              <a:t>Merci de votre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468880"/>
            <a:ext cx="9966960" cy="868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2468880"/>
            <a:ext cx="64008" cy="86868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2468880"/>
            <a:ext cx="9509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 i="0">
                <a:solidFill>
                  <a:srgbClr val="334155"/>
                </a:solidFill>
                <a:latin typeface="Arial"/>
              </a:rPr>
              <a:t>3 endpoints POST opérationnels — /transcribe · /understand · /analyze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474720"/>
            <a:ext cx="9966960" cy="868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97280" y="3474720"/>
            <a:ext cx="64008" cy="86868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3474720"/>
            <a:ext cx="9509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 i="0">
                <a:solidFill>
                  <a:srgbClr val="334155"/>
                </a:solidFill>
                <a:latin typeface="Arial"/>
              </a:rPr>
              <a:t>Interface web claire : import, enregistrement micro et 3 onglets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480560"/>
            <a:ext cx="9966960" cy="868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7280" y="4480560"/>
            <a:ext cx="64008" cy="86868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480560"/>
            <a:ext cx="9509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 i="0">
                <a:solidFill>
                  <a:srgbClr val="334155"/>
                </a:solidFill>
                <a:latin typeface="Arial"/>
              </a:rPr>
              <a:t>Déployé sur GPU Colab A100 — modèle open source, aucune API payante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0F172A"/>
                </a:solidFill>
                <a:latin typeface="Arial"/>
              </a:rPr>
              <a:t>Tassnim &amp; Zineb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94A3B8"/>
                </a:solidFill>
                <a:latin typeface="Arial"/>
              </a:rPr>
              <a:t>Pr. Smail Tigani · Université Euromed de Fès · EIDIA · 2025/2026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